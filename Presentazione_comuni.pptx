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321" r:id="rId3"/>
    <p:sldId id="309" r:id="rId4"/>
    <p:sldId id="358" r:id="rId5"/>
    <p:sldId id="339" r:id="rId6"/>
    <p:sldId id="341" r:id="rId7"/>
    <p:sldId id="359" r:id="rId8"/>
    <p:sldId id="343" r:id="rId9"/>
    <p:sldId id="345" r:id="rId10"/>
    <p:sldId id="357" r:id="rId11"/>
    <p:sldId id="347" r:id="rId12"/>
    <p:sldId id="349" r:id="rId13"/>
    <p:sldId id="351" r:id="rId14"/>
    <p:sldId id="353" r:id="rId15"/>
    <p:sldId id="318" r:id="rId16"/>
    <p:sldId id="374" r:id="rId17"/>
    <p:sldId id="319" r:id="rId1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78" d="100"/>
          <a:sy n="78" d="100"/>
        </p:scale>
        <p:origin x="48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544FE5-4629-856E-1FE1-2010FF255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32BD15E-978A-8022-B1D5-CDD298BF6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327B01A-0771-1907-D69C-7D95B9E00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83E0846-E681-B288-2ECA-3D15D0993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25C8D58-A2E9-7226-4FCF-12C32E477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9393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1B09C3-8FCC-AF42-F7AA-CF3FC5081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915654-2689-0D3A-F64B-4E7AFFC10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6336AD9-8C35-0F56-B509-32BBCDDD0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796757-457B-C286-612C-A5442E2B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FC90BDC-6085-32B1-B802-D6CA306B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3285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BEC5A0-3016-A7BB-2A5E-65BE5E749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DBC739A-9505-AD97-3C11-3121F63DE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36C5E49-88DD-D9E8-D8AF-0A4A02894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9EE248-2E93-7765-FF7A-9E2A441BC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8ECA169-7266-7D16-BCBE-B859F4EA5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7462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588158-F6A1-4AF1-775E-D2C9A0D28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BA90953-9D92-1BBD-48D3-A75859F95C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2DD54A3-12FE-ACDB-D6CE-019144925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867409F-6744-290A-BCD4-1E596E354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DF1AFA3-50C1-FAA2-9E48-D04022A5D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888B3D7-C2B8-A83A-C6A0-6AE3944F0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238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9547AE-0748-B6AE-F0AD-6F5638A6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DBE2F4B-2C3D-C295-161F-EC631907F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F019DA1-2351-5844-EA3E-2733B6DA1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B245EC5-1969-014E-CF42-7DF502D335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96BB2D0-A514-A62B-56FB-B0E2F8D6BE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EC7B56A-36A1-9235-AC83-6865DC49F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5C3899A-B50D-F76A-E472-9A9E846A6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AAF9724-999D-C70B-3C1C-6817301D1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2698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2FE546-C356-693C-D4F2-9A61B215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89303AE-2E35-20F1-E5B9-CBD622221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2F2DDB5-2BD4-7621-EACD-EEE1C8E97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D644D16-4466-F755-CAAF-706720BC1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5859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2D7E8D6-D229-D694-940E-62A00F072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9BD70E0-C874-3AE3-BDA8-7D55F852B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646F656-8A5C-D581-6BE1-86214C0D2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3915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552FA0-F274-E9B3-D493-6352561E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BB7A55-C404-5ECE-5C39-28FCB92B1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45C4D4A-1010-071A-78E1-3F8EE39F4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30A0683-F36C-C4E1-11EE-A05BCAC6E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4A88BFD-423E-2B5C-FAE0-7B36D4FEE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DD6269A-0E33-A96A-1E31-C84FAFFE6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9293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DF846D-ACD7-3CC6-D7C5-EC84A943D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5E0E346-A563-256B-820E-B91CEAC9C5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6EC57E8-4387-D97B-3AE3-AC224A2DF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65E40E8-120D-DEEC-B2B5-549700AC0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B8596BD-24F7-57B6-C086-AB8E49ED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B298310-B99C-0F37-EF9D-380BD6B93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7681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DF18B4-0AD8-D0C2-2737-84DC3826B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DA71ACD-FFAE-BB9E-6DB3-F0E396580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B1DB254-90B1-BA1C-012E-3F587D219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26C218C-6698-8C0C-BF91-198334319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93DCB05-20F7-CEC0-EE8F-701C36C6A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2270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DE6A2CC-D88A-5F2B-FB7E-F15908A21D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E8B6F4B-F214-C3FB-1D05-79DD46FF2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82A83B-3464-EB6F-C950-32F38DF72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E4C8360-6A01-5A25-AD5A-3053A6FF1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60F6BE9-FDCF-605C-CB79-2E719C50E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3128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544FE5-4629-856E-1FE1-2010FF255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32BD15E-978A-8022-B1D5-CDD298BF6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327B01A-0771-1907-D69C-7D95B9E00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83E0846-E681-B288-2ECA-3D15D0993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25C8D58-A2E9-7226-4FCF-12C32E477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9393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1B09C3-8FCC-AF42-F7AA-CF3FC5081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915654-2689-0D3A-F64B-4E7AFFC10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6336AD9-8C35-0F56-B509-32BBCDDD0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796757-457B-C286-612C-A5442E2B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FC90BDC-6085-32B1-B802-D6CA306B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3285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BEC5A0-3016-A7BB-2A5E-65BE5E749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DBC739A-9505-AD97-3C11-3121F63DE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36C5E49-88DD-D9E8-D8AF-0A4A02894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9EE248-2E93-7765-FF7A-9E2A441BC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8ECA169-7266-7D16-BCBE-B859F4EA5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74620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588158-F6A1-4AF1-775E-D2C9A0D28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BA90953-9D92-1BBD-48D3-A75859F95C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2DD54A3-12FE-ACDB-D6CE-019144925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867409F-6744-290A-BCD4-1E596E354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DF1AFA3-50C1-FAA2-9E48-D04022A5D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888B3D7-C2B8-A83A-C6A0-6AE3944F0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238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9547AE-0748-B6AE-F0AD-6F5638A6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DBE2F4B-2C3D-C295-161F-EC631907F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F019DA1-2351-5844-EA3E-2733B6DA1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B245EC5-1969-014E-CF42-7DF502D335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96BB2D0-A514-A62B-56FB-B0E2F8D6BE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EC7B56A-36A1-9235-AC83-6865DC49F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5C3899A-B50D-F76A-E472-9A9E846A6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AAF9724-999D-C70B-3C1C-6817301D1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26986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2FE546-C356-693C-D4F2-9A61B215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89303AE-2E35-20F1-E5B9-CBD622221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2F2DDB5-2BD4-7621-EACD-EEE1C8E97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D644D16-4466-F755-CAAF-706720BC1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5859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2D7E8D6-D229-D694-940E-62A00F072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9BD70E0-C874-3AE3-BDA8-7D55F852B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646F656-8A5C-D581-6BE1-86214C0D2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39151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552FA0-F274-E9B3-D493-6352561E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BB7A55-C404-5ECE-5C39-28FCB92B1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45C4D4A-1010-071A-78E1-3F8EE39F4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30A0683-F36C-C4E1-11EE-A05BCAC6E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4A88BFD-423E-2B5C-FAE0-7B36D4FEE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DD6269A-0E33-A96A-1E31-C84FAFFE6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92931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DF846D-ACD7-3CC6-D7C5-EC84A943D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5E0E346-A563-256B-820E-B91CEAC9C5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6EC57E8-4387-D97B-3AE3-AC224A2DF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65E40E8-120D-DEEC-B2B5-549700AC0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B8596BD-24F7-57B6-C086-AB8E49ED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B298310-B99C-0F37-EF9D-380BD6B93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76813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DF18B4-0AD8-D0C2-2737-84DC3826B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DA71ACD-FFAE-BB9E-6DB3-F0E396580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B1DB254-90B1-BA1C-012E-3F587D219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26C218C-6698-8C0C-BF91-198334319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93DCB05-20F7-CEC0-EE8F-701C36C6A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22701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DE6A2CC-D88A-5F2B-FB7E-F15908A21D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E8B6F4B-F214-C3FB-1D05-79DD46FF2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82A83B-3464-EB6F-C950-32F38DF72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E4C8360-6A01-5A25-AD5A-3053A6FF1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60F6BE9-FDCF-605C-CB79-2E719C50E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312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B2B2B"/>
            </a:gs>
            <a:gs pos="100000">
              <a:srgbClr val="1A1A1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971BC56-D19E-020C-EB9F-FB096F3E9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CD3AE2B-09B2-B53C-966C-524F19A55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5F470E4-64C2-A4B3-4247-DD88ED872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95F133-5F5A-741F-ABA8-A7CF17688E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B2D623-81D7-3A3A-87FD-FB1A3DF17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  <p:sp>
        <p:nvSpPr>
          <p:cNvPr id="900" name="AccentBar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2890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01" name="BottomLine"/>
          <p:cNvSpPr/>
          <p:nvPr/>
        </p:nvSpPr>
        <p:spPr>
          <a:xfrm>
            <a:off x="457200" y="6629400"/>
            <a:ext cx="11277600" cy="0"/>
          </a:xfrm>
          <a:prstGeom prst="line">
            <a:avLst/>
          </a:prstGeom>
          <a:noFill/>
          <a:ln w="12700">
            <a:solidFill>
              <a:srgbClr val="F2890A">
                <a:alpha val="40000"/>
              </a:srgbClr>
            </a:solidFill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2197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8E8E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E8E8E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E8E8E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8E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8E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8E8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8E8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8E8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8E8"/>
          </a:solidFill>
          <a:latin typeface="+mn-lt"/>
          <a:ea typeface="+mn-ea"/>
          <a:cs typeface="+mn-cs"/>
        </a:defRPr>
      </a:lvl9pPr>
    </p:bodyStyle>
    <p:otherStyle>
      <a:defPPr>
        <a:defRPr lang="it-IT">
          <a:solidFill>
            <a:srgbClr val="E8E8E8"/>
          </a:solidFill>
        </a:defRPr>
      </a:defPPr>
      <a:lvl1pPr marL="0" algn="l" defTabSz="914400" rtl="0" eaLnBrk="1" latinLnBrk="0" hangingPunct="1">
        <a:defRPr sz="1800" kern="1200">
          <a:solidFill>
            <a:srgbClr val="E8E8E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E8E8E8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E8E8E8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E8E8E8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E8E8E8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E8E8E8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E8E8E8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E8E8E8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E8E8E8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971BC56-D19E-020C-EB9F-FB096F3E9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CD3AE2B-09B2-B53C-966C-524F19A55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5F470E4-64C2-A4B3-4247-DD88ED872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401F3-E6AB-4ECB-9FA9-0148BDBE386F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95F133-5F5A-741F-ABA8-A7CF17688E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B2D623-81D7-3A3A-87FD-FB1A3DF17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95A2CD-46B8-496D-87A7-0E104C62FA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2197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10" Type="http://schemas.openxmlformats.org/officeDocument/2006/relationships/image" Target="../media/image1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4E5619EC-9688-B140-EA39-F8FC5C5B669C}"/>
              </a:ext>
            </a:extLst>
          </p:cNvPr>
          <p:cNvSpPr/>
          <p:nvPr/>
        </p:nvSpPr>
        <p:spPr>
          <a:xfrm>
            <a:off x="0" y="-302004"/>
            <a:ext cx="12192000" cy="309553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831695C-A15F-A537-1F7A-8400DA33C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42950"/>
            <a:ext cx="9144000" cy="119682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it-IT" sz="3200" dirty="0">
                <a:solidFill>
                  <a:srgbClr val="E8E8E8"/>
                </a:solidFill>
                <a:latin typeface="Open Sans"/>
              </a:rPr>
              <a:t>Gestione intelligente di cantieri e immobili</a:t>
            </a:r>
          </a:p>
          <a:p>
            <a:pPr algn="ctr">
              <a:buNone/>
            </a:pPr>
            <a:r>
              <a:rPr lang="it-IT" sz="3200" dirty="0">
                <a:solidFill>
                  <a:srgbClr val="E8E8E8"/>
                </a:solidFill>
                <a:latin typeface="Open Sans"/>
              </a:rPr>
              <a:t>per il tuo Comune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FD6BAD2-869D-416C-9779-B29044DE49B9}"/>
              </a:ext>
            </a:extLst>
          </p:cNvPr>
          <p:cNvSpPr txBox="1"/>
          <p:nvPr/>
        </p:nvSpPr>
        <p:spPr>
          <a:xfrm>
            <a:off x="1651000" y="4891947"/>
            <a:ext cx="8890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it-IT" i="1" dirty="0">
                <a:solidFill>
                  <a:srgbClr val="A0A0A0"/>
                </a:solidFill>
                <a:latin typeface="Open Sans"/>
              </a:rPr>
              <a:t>La piattaforma che trasforma la gestione del patrimonio pubblico</a:t>
            </a:r>
          </a:p>
        </p:txBody>
      </p:sp>
      <p:pic>
        <p:nvPicPr>
          <p:cNvPr id="7" name="Immagine 6" descr="Immagine che contiene schermata, arancione, Policromia, Rettangolo&#10;&#10;Il contenuto generato dall'IA potrebbe non essere corretto.">
            <a:extLst>
              <a:ext uri="{FF2B5EF4-FFF2-40B4-BE49-F238E27FC236}">
                <a16:creationId xmlns:a16="http://schemas.microsoft.com/office/drawing/2014/main" id="{5CC01F04-BF6F-1BC0-A862-967139B853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180" y="654192"/>
            <a:ext cx="1364420" cy="1484418"/>
          </a:xfrm>
          <a:prstGeom prst="rect">
            <a:avLst/>
          </a:prstGeom>
        </p:spPr>
      </p:pic>
      <p:pic>
        <p:nvPicPr>
          <p:cNvPr id="9" name="Immagine 8" descr="Immagine che contiene Carattere, Elementi grafici, schermata, logo&#10;&#10;Il contenuto generato dall'IA potrebbe non essere corretto.">
            <a:extLst>
              <a:ext uri="{FF2B5EF4-FFF2-40B4-BE49-F238E27FC236}">
                <a16:creationId xmlns:a16="http://schemas.microsoft.com/office/drawing/2014/main" id="{D4DE1EB7-585A-0472-A55A-3C76D3E9D9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324" y="852556"/>
            <a:ext cx="5458587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445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AA7188-8012-EA42-ED68-A96538C42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it-IT" sz="3200" b="1" dirty="0">
                <a:solidFill>
                  <a:srgbClr val="FFFFFF"/>
                </a:solidFill>
                <a:latin typeface="Montserrat"/>
              </a:rPr>
              <a:t>Come si lavora </a:t>
            </a:r>
            <a:r>
              <a:rPr lang="it-IT" sz="3200" b="1" dirty="0">
                <a:solidFill>
                  <a:srgbClr val="F2890A"/>
                </a:solidFill>
                <a:latin typeface="Montserrat"/>
              </a:rPr>
              <a:t>oggi?</a:t>
            </a:r>
          </a:p>
        </p:txBody>
      </p:sp>
      <p:pic>
        <p:nvPicPr>
          <p:cNvPr id="3" name="Graphic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000" y="1775617"/>
            <a:ext cx="635000" cy="635000"/>
          </a:xfrm>
          <a:prstGeom prst="rect">
            <a:avLst/>
          </a:prstGeom>
        </p:spPr>
      </p:pic>
      <p:pic>
        <p:nvPicPr>
          <p:cNvPr id="4" name="Graphic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00" y="3807617"/>
            <a:ext cx="635000" cy="635000"/>
          </a:xfrm>
          <a:prstGeom prst="rect">
            <a:avLst/>
          </a:prstGeom>
        </p:spPr>
      </p:pic>
      <p:pic>
        <p:nvPicPr>
          <p:cNvPr id="5" name="Graphic 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3000" y="1775617"/>
            <a:ext cx="635000" cy="635000"/>
          </a:xfrm>
          <a:prstGeom prst="rect">
            <a:avLst/>
          </a:prstGeom>
        </p:spPr>
      </p:pic>
      <p:pic>
        <p:nvPicPr>
          <p:cNvPr id="6" name="Graphic 6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23000" y="3807617"/>
            <a:ext cx="635000" cy="63500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3E0B1254-7E83-4042-B3D4-12C8F89441F9}"/>
              </a:ext>
            </a:extLst>
          </p:cNvPr>
          <p:cNvSpPr txBox="1"/>
          <p:nvPr/>
        </p:nvSpPr>
        <p:spPr>
          <a:xfrm>
            <a:off x="1460500" y="1712117"/>
            <a:ext cx="431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200" b="1">
                <a:solidFill>
                  <a:srgbClr val="FFFFFF"/>
                </a:solidFill>
                <a:latin typeface="Montserrat"/>
              </a:rPr>
              <a:t>Comunicazione frammentata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9FDE0A3-11D5-4AFD-BF65-FE2F47035F14}"/>
              </a:ext>
            </a:extLst>
          </p:cNvPr>
          <p:cNvSpPr txBox="1"/>
          <p:nvPr/>
        </p:nvSpPr>
        <p:spPr>
          <a:xfrm>
            <a:off x="1460500" y="2463398"/>
            <a:ext cx="4318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600">
                <a:solidFill>
                  <a:srgbClr val="C0C0C0"/>
                </a:solidFill>
                <a:latin typeface="Open Sans"/>
                <a:ea typeface="Open Sans"/>
                <a:cs typeface="Open Sans"/>
              </a:rPr>
              <a:t>Solo mail e telefonate.
Nulla resta tracciato.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7A74188-4E30-424D-92F7-44FF48A84700}"/>
              </a:ext>
            </a:extLst>
          </p:cNvPr>
          <p:cNvSpPr txBox="1"/>
          <p:nvPr/>
        </p:nvSpPr>
        <p:spPr>
          <a:xfrm>
            <a:off x="1460500" y="3744117"/>
            <a:ext cx="431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200" b="1">
                <a:solidFill>
                  <a:srgbClr val="FFFFFF"/>
                </a:solidFill>
                <a:latin typeface="Montserrat"/>
              </a:rPr>
              <a:t>Tutto su Excel e carta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DD81FC3-8385-4A6A-A2FD-4AE0622C48FF}"/>
              </a:ext>
            </a:extLst>
          </p:cNvPr>
          <p:cNvSpPr txBox="1"/>
          <p:nvPr/>
        </p:nvSpPr>
        <p:spPr>
          <a:xfrm>
            <a:off x="1460500" y="4252117"/>
            <a:ext cx="4318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600">
                <a:solidFill>
                  <a:srgbClr val="C0C0C0"/>
                </a:solidFill>
                <a:latin typeface="Open Sans"/>
                <a:ea typeface="Open Sans"/>
                <a:cs typeface="Open Sans"/>
              </a:rPr>
              <a:t>Fogli sparsi, versioni diverse,
nessun dato in tempo reale.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84CAD24-B781-4396-A526-5C91EECDDBA8}"/>
              </a:ext>
            </a:extLst>
          </p:cNvPr>
          <p:cNvSpPr txBox="1"/>
          <p:nvPr/>
        </p:nvSpPr>
        <p:spPr>
          <a:xfrm>
            <a:off x="7048500" y="1712117"/>
            <a:ext cx="431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200" b="1">
                <a:solidFill>
                  <a:srgbClr val="FFFFFF"/>
                </a:solidFill>
                <a:latin typeface="Montserrat"/>
              </a:rPr>
              <a:t>Documenti introvabili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ED8A6AD-0AAF-4729-BF2E-2545AA949489}"/>
              </a:ext>
            </a:extLst>
          </p:cNvPr>
          <p:cNvSpPr txBox="1"/>
          <p:nvPr/>
        </p:nvSpPr>
        <p:spPr>
          <a:xfrm>
            <a:off x="7048500" y="2220117"/>
            <a:ext cx="4318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600">
                <a:solidFill>
                  <a:srgbClr val="C0C0C0"/>
                </a:solidFill>
                <a:latin typeface="Open Sans"/>
                <a:ea typeface="Open Sans"/>
                <a:cs typeface="Open Sans"/>
              </a:rPr>
              <a:t>Faldoni, archivi cartacei,
scansioni perse nelle mail.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2D42BD6-9C90-4862-9687-899FC032C990}"/>
              </a:ext>
            </a:extLst>
          </p:cNvPr>
          <p:cNvSpPr txBox="1"/>
          <p:nvPr/>
        </p:nvSpPr>
        <p:spPr>
          <a:xfrm>
            <a:off x="7048500" y="3744117"/>
            <a:ext cx="431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200" b="1">
                <a:solidFill>
                  <a:srgbClr val="FFFFFF"/>
                </a:solidFill>
                <a:latin typeface="Montserrat"/>
              </a:rPr>
              <a:t>Nessun monitoraggio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3E3C9C0-E4C4-4D79-8F95-E99CB4F68AB5}"/>
              </a:ext>
            </a:extLst>
          </p:cNvPr>
          <p:cNvSpPr txBox="1"/>
          <p:nvPr/>
        </p:nvSpPr>
        <p:spPr>
          <a:xfrm>
            <a:off x="7048500" y="4252117"/>
            <a:ext cx="4318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600">
                <a:solidFill>
                  <a:srgbClr val="C0C0C0"/>
                </a:solidFill>
                <a:latin typeface="Open Sans"/>
                <a:ea typeface="Open Sans"/>
                <a:cs typeface="Open Sans"/>
              </a:rPr>
              <a:t>Impossibile sapere lo stato
dei lavori in tempo reale.</a:t>
            </a:r>
          </a:p>
        </p:txBody>
      </p:sp>
      <p:pic>
        <p:nvPicPr>
          <p:cNvPr id="15" name="Immagine 14" descr="Immagine che contiene schermata, arancione, Policromia, Rettangolo&#10;&#10;Il contenuto generato dall'IA potrebbe non essere corretto.">
            <a:extLst>
              <a:ext uri="{FF2B5EF4-FFF2-40B4-BE49-F238E27FC236}">
                <a16:creationId xmlns:a16="http://schemas.microsoft.com/office/drawing/2014/main" id="{A05C4940-0A1E-A4B0-91F8-EE3A4330945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0146" y="5695975"/>
            <a:ext cx="952707" cy="103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70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DB3994-E84F-1CED-9179-099ECD090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190500"/>
            <a:ext cx="11176000" cy="762000"/>
          </a:xfrm>
        </p:spPr>
        <p:txBody>
          <a:bodyPr/>
          <a:lstStyle/>
          <a:p>
            <a:pPr algn="l">
              <a:buNone/>
            </a:pPr>
            <a:r>
              <a:rPr lang="it-IT" sz="2800" b="1" dirty="0">
                <a:solidFill>
                  <a:srgbClr val="FFFFFF"/>
                </a:solidFill>
                <a:latin typeface="Montserrat"/>
              </a:rPr>
              <a:t>Tutto in un’unica Dashboard riepilogativa</a:t>
            </a:r>
          </a:p>
        </p:txBody>
      </p:sp>
      <p:pic>
        <p:nvPicPr>
          <p:cNvPr id="9" name="Immagine 8" descr="Immagine che contiene schermata, arancione, Policromia, Rettangolo&#10;&#10;Il contenuto generato dall'IA potrebbe non essere corretto.">
            <a:extLst>
              <a:ext uri="{FF2B5EF4-FFF2-40B4-BE49-F238E27FC236}">
                <a16:creationId xmlns:a16="http://schemas.microsoft.com/office/drawing/2014/main" id="{23796123-DC0C-E0EA-6A06-E819E3E9C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0146" y="5695975"/>
            <a:ext cx="952707" cy="1036496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0544FDB9-BBA4-4AC6-9658-AA6E279DE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248" y="1331709"/>
            <a:ext cx="9097914" cy="482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150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DB3994-E84F-1CED-9179-099ECD090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190500"/>
            <a:ext cx="11176000" cy="762000"/>
          </a:xfrm>
        </p:spPr>
        <p:txBody>
          <a:bodyPr/>
          <a:lstStyle/>
          <a:p>
            <a:pPr algn="l">
              <a:buNone/>
            </a:pPr>
            <a:r>
              <a:rPr lang="it-IT" sz="2800" b="1" dirty="0">
                <a:solidFill>
                  <a:srgbClr val="FFFFFF"/>
                </a:solidFill>
                <a:latin typeface="Montserrat"/>
              </a:rPr>
              <a:t>Comunicazione e documenti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3496A1DE-CEEB-4825-A2F0-AFBE4FDD3435}"/>
              </a:ext>
            </a:extLst>
          </p:cNvPr>
          <p:cNvSpPr/>
          <p:nvPr/>
        </p:nvSpPr>
        <p:spPr>
          <a:xfrm>
            <a:off x="317500" y="1841500"/>
            <a:ext cx="5651500" cy="3683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E12EBBE1-8408-491A-9516-5D1C85814DDF}"/>
              </a:ext>
            </a:extLst>
          </p:cNvPr>
          <p:cNvSpPr/>
          <p:nvPr/>
        </p:nvSpPr>
        <p:spPr>
          <a:xfrm>
            <a:off x="317500" y="1841500"/>
            <a:ext cx="1778000" cy="533400"/>
          </a:xfrm>
          <a:prstGeom prst="roundRect">
            <a:avLst/>
          </a:prstGeom>
          <a:solidFill>
            <a:srgbClr val="D94F4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b="1">
                <a:solidFill>
                  <a:srgbClr val="FFFFFF"/>
                </a:solidFill>
                <a:latin typeface="Montserrat"/>
              </a:rPr>
              <a:t>PRIMA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5628AF7-65CB-46D9-83DD-A5335B5A1865}"/>
              </a:ext>
            </a:extLst>
          </p:cNvPr>
          <p:cNvSpPr txBox="1"/>
          <p:nvPr/>
        </p:nvSpPr>
        <p:spPr>
          <a:xfrm>
            <a:off x="571500" y="2540000"/>
            <a:ext cx="51435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Comunicazioni solo via mail e telefono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Tutto tracciato solo nella posta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Documenti sparsi e difficili da trovare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Nessuna notifica automatica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ECD3B094-BA7E-4FDD-8EC4-4D0ECFFC997A}"/>
              </a:ext>
            </a:extLst>
          </p:cNvPr>
          <p:cNvSpPr/>
          <p:nvPr/>
        </p:nvSpPr>
        <p:spPr>
          <a:xfrm>
            <a:off x="6223000" y="1841500"/>
            <a:ext cx="5651500" cy="3683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BA9EF2BA-3A7C-4EA0-8814-EE1F40647D7D}"/>
              </a:ext>
            </a:extLst>
          </p:cNvPr>
          <p:cNvSpPr/>
          <p:nvPr/>
        </p:nvSpPr>
        <p:spPr>
          <a:xfrm>
            <a:off x="6223000" y="1841500"/>
            <a:ext cx="2286000" cy="533400"/>
          </a:xfrm>
          <a:prstGeom prst="roundRect">
            <a:avLst/>
          </a:prstGeom>
          <a:solidFill>
            <a:srgbClr val="4A9B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600" b="1">
                <a:solidFill>
                  <a:srgbClr val="FFFFFF"/>
                </a:solidFill>
                <a:latin typeface="Montserrat"/>
              </a:rPr>
              <a:t>CON CANTIERI.AI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2D976DF-6E9B-486E-AAE0-C033D5091596}"/>
              </a:ext>
            </a:extLst>
          </p:cNvPr>
          <p:cNvSpPr txBox="1"/>
          <p:nvPr/>
        </p:nvSpPr>
        <p:spPr>
          <a:xfrm>
            <a:off x="6477000" y="2540000"/>
            <a:ext cx="51435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Un'app unica per tutto il team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Documenti organizzati per spazi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Ogni tecnico carica nella sua area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Notifiche automatiche a tutti</a:t>
            </a:r>
          </a:p>
        </p:txBody>
      </p:sp>
      <p:pic>
        <p:nvPicPr>
          <p:cNvPr id="9" name="Immagine 8" descr="Immagine che contiene schermata, arancione, Policromia, Rettangolo&#10;&#10;Il contenuto generato dall'IA potrebbe non essere corretto.">
            <a:extLst>
              <a:ext uri="{FF2B5EF4-FFF2-40B4-BE49-F238E27FC236}">
                <a16:creationId xmlns:a16="http://schemas.microsoft.com/office/drawing/2014/main" id="{23796123-DC0C-E0EA-6A06-E819E3E9C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0146" y="5695975"/>
            <a:ext cx="952707" cy="103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124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DEC6FB-6ECC-A600-BC26-CAA4F2FBC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190500"/>
            <a:ext cx="11176000" cy="762000"/>
          </a:xfrm>
        </p:spPr>
        <p:txBody>
          <a:bodyPr/>
          <a:lstStyle/>
          <a:p>
            <a:pPr algn="l">
              <a:buNone/>
            </a:pPr>
            <a:r>
              <a:rPr lang="it-IT" sz="2800" b="1" dirty="0">
                <a:solidFill>
                  <a:srgbClr val="FFFFFF"/>
                </a:solidFill>
                <a:latin typeface="Montserrat"/>
              </a:rPr>
              <a:t>Pianificazione e monitoraggio attività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3D4DF4C6-9253-4FDB-A23D-955932DAC1DD}"/>
              </a:ext>
            </a:extLst>
          </p:cNvPr>
          <p:cNvSpPr/>
          <p:nvPr/>
        </p:nvSpPr>
        <p:spPr>
          <a:xfrm>
            <a:off x="317500" y="1841500"/>
            <a:ext cx="5651500" cy="3683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9626031F-38BB-427D-8B10-407BEB1B8B23}"/>
              </a:ext>
            </a:extLst>
          </p:cNvPr>
          <p:cNvSpPr/>
          <p:nvPr/>
        </p:nvSpPr>
        <p:spPr>
          <a:xfrm>
            <a:off x="317500" y="1841500"/>
            <a:ext cx="1778000" cy="533400"/>
          </a:xfrm>
          <a:prstGeom prst="roundRect">
            <a:avLst/>
          </a:prstGeom>
          <a:solidFill>
            <a:srgbClr val="D94F4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b="1">
                <a:solidFill>
                  <a:srgbClr val="FFFFFF"/>
                </a:solidFill>
                <a:latin typeface="Montserrat"/>
              </a:rPr>
              <a:t>PRIMA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D9E451D-ADE3-4D27-A862-22726CE9E011}"/>
              </a:ext>
            </a:extLst>
          </p:cNvPr>
          <p:cNvSpPr txBox="1"/>
          <p:nvPr/>
        </p:nvSpPr>
        <p:spPr>
          <a:xfrm>
            <a:off x="571500" y="2540000"/>
            <a:ext cx="51435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Nessuna verifica sull'avanzamento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Appunti su carta o foglietti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Non si sa dove va il tempo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Manutenzione senza pianificazione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24EDE005-D2D4-47F8-ABAB-39EA8E79D3E0}"/>
              </a:ext>
            </a:extLst>
          </p:cNvPr>
          <p:cNvSpPr/>
          <p:nvPr/>
        </p:nvSpPr>
        <p:spPr>
          <a:xfrm>
            <a:off x="6223000" y="1841500"/>
            <a:ext cx="5651500" cy="3683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D88AEE84-823A-4DF4-A544-B665BF201B1F}"/>
              </a:ext>
            </a:extLst>
          </p:cNvPr>
          <p:cNvSpPr/>
          <p:nvPr/>
        </p:nvSpPr>
        <p:spPr>
          <a:xfrm>
            <a:off x="6223000" y="1841500"/>
            <a:ext cx="2286000" cy="533400"/>
          </a:xfrm>
          <a:prstGeom prst="roundRect">
            <a:avLst/>
          </a:prstGeom>
          <a:solidFill>
            <a:srgbClr val="4A9B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600" b="1">
                <a:solidFill>
                  <a:srgbClr val="FFFFFF"/>
                </a:solidFill>
                <a:latin typeface="Montserrat"/>
              </a:rPr>
              <a:t>CON CANTIERI.AI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4231B73-38BC-4CAB-B286-F4ABCC298C0E}"/>
              </a:ext>
            </a:extLst>
          </p:cNvPr>
          <p:cNvSpPr txBox="1"/>
          <p:nvPr/>
        </p:nvSpPr>
        <p:spPr>
          <a:xfrm>
            <a:off x="6477000" y="2540000"/>
            <a:ext cx="51435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Monitoraggio in tempo reale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Gestione attività con promemoria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Consuntivi aggiornati automaticamente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Sai subito dove si impiega il tempo</a:t>
            </a:r>
          </a:p>
        </p:txBody>
      </p:sp>
      <p:pic>
        <p:nvPicPr>
          <p:cNvPr id="9" name="Immagine 8" descr="Immagine che contiene schermata, arancione, Policromia, Rettangolo&#10;&#10;Il contenuto generato dall'IA potrebbe non essere corretto.">
            <a:extLst>
              <a:ext uri="{FF2B5EF4-FFF2-40B4-BE49-F238E27FC236}">
                <a16:creationId xmlns:a16="http://schemas.microsoft.com/office/drawing/2014/main" id="{3E0195F5-B3B2-608A-B683-5640508CE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0146" y="5695975"/>
            <a:ext cx="952707" cy="103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513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DEC6FB-6ECC-A600-BC26-CAA4F2FBC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190500"/>
            <a:ext cx="11176000" cy="762000"/>
          </a:xfrm>
        </p:spPr>
        <p:txBody>
          <a:bodyPr/>
          <a:lstStyle/>
          <a:p>
            <a:pPr algn="l">
              <a:buNone/>
            </a:pPr>
            <a:r>
              <a:rPr lang="it-IT" sz="2800" b="1" dirty="0">
                <a:solidFill>
                  <a:srgbClr val="FFFFFF"/>
                </a:solidFill>
                <a:latin typeface="Montserrat"/>
              </a:rPr>
              <a:t>Pianificazione e monitoraggio attività</a:t>
            </a:r>
          </a:p>
        </p:txBody>
      </p:sp>
      <p:pic>
        <p:nvPicPr>
          <p:cNvPr id="9" name="Immagine 8" descr="Immagine che contiene schermata, arancione, Policromia, Rettangolo&#10;&#10;Il contenuto generato dall'IA potrebbe non essere corretto.">
            <a:extLst>
              <a:ext uri="{FF2B5EF4-FFF2-40B4-BE49-F238E27FC236}">
                <a16:creationId xmlns:a16="http://schemas.microsoft.com/office/drawing/2014/main" id="{3E0195F5-B3B2-608A-B683-5640508CE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0146" y="5695975"/>
            <a:ext cx="952707" cy="1036496"/>
          </a:xfrm>
          <a:prstGeom prst="rect">
            <a:avLst/>
          </a:prstGeom>
        </p:spPr>
      </p:pic>
      <p:pic>
        <p:nvPicPr>
          <p:cNvPr id="4" name="Immagine 3" descr="Immagine che contiene testo, schermata, software, Pagina Web&#10;&#10;Il contenuto generato dall'IA potrebbe non essere corretto.">
            <a:extLst>
              <a:ext uri="{FF2B5EF4-FFF2-40B4-BE49-F238E27FC236}">
                <a16:creationId xmlns:a16="http://schemas.microsoft.com/office/drawing/2014/main" id="{270AFCA0-A153-9650-B390-650E1664A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400" y="1024609"/>
            <a:ext cx="8464337" cy="5642891"/>
          </a:xfrm>
          <a:prstGeom prst="rect">
            <a:avLst/>
          </a:prstGeom>
        </p:spPr>
      </p:pic>
      <p:sp>
        <p:nvSpPr>
          <p:cNvPr id="7" name="Fumetto: ovale 6">
            <a:extLst>
              <a:ext uri="{FF2B5EF4-FFF2-40B4-BE49-F238E27FC236}">
                <a16:creationId xmlns:a16="http://schemas.microsoft.com/office/drawing/2014/main" id="{485DC6C0-210E-82FB-FB5B-CF5E7575D803}"/>
              </a:ext>
            </a:extLst>
          </p:cNvPr>
          <p:cNvSpPr/>
          <p:nvPr/>
        </p:nvSpPr>
        <p:spPr>
          <a:xfrm>
            <a:off x="8836899" y="4140754"/>
            <a:ext cx="2632736" cy="1343984"/>
          </a:xfrm>
          <a:prstGeom prst="wedgeEllipseCallou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Con monitor giornaliero delle</a:t>
            </a:r>
          </a:p>
          <a:p>
            <a:pPr algn="ctr"/>
            <a:r>
              <a:rPr lang="it-IT" dirty="0"/>
              <a:t>Attività in corso</a:t>
            </a:r>
          </a:p>
        </p:txBody>
      </p:sp>
    </p:spTree>
    <p:extLst>
      <p:ext uri="{BB962C8B-B14F-4D97-AF65-F5344CB8AC3E}">
        <p14:creationId xmlns:p14="http://schemas.microsoft.com/office/powerpoint/2010/main" val="354796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207E52-A57C-AEED-A63B-B5C547E1D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190500"/>
            <a:ext cx="11176000" cy="762000"/>
          </a:xfrm>
        </p:spPr>
        <p:txBody>
          <a:bodyPr/>
          <a:lstStyle/>
          <a:p>
            <a:pPr algn="l">
              <a:buNone/>
            </a:pPr>
            <a:r>
              <a:rPr lang="it-IT" sz="2800" b="1" dirty="0">
                <a:solidFill>
                  <a:srgbClr val="FFFFFF"/>
                </a:solidFill>
                <a:latin typeface="Montserrat"/>
              </a:rPr>
              <a:t>Verbali di cantiere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47C78D20-3062-44AF-B799-C7751389C427}"/>
              </a:ext>
            </a:extLst>
          </p:cNvPr>
          <p:cNvSpPr/>
          <p:nvPr/>
        </p:nvSpPr>
        <p:spPr>
          <a:xfrm>
            <a:off x="317500" y="1841500"/>
            <a:ext cx="5651500" cy="3683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C7E1DBBC-447E-4688-BAFD-7813131C4592}"/>
              </a:ext>
            </a:extLst>
          </p:cNvPr>
          <p:cNvSpPr/>
          <p:nvPr/>
        </p:nvSpPr>
        <p:spPr>
          <a:xfrm>
            <a:off x="317500" y="1841500"/>
            <a:ext cx="1778000" cy="533400"/>
          </a:xfrm>
          <a:prstGeom prst="roundRect">
            <a:avLst/>
          </a:prstGeom>
          <a:solidFill>
            <a:srgbClr val="D94F4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b="1">
                <a:solidFill>
                  <a:srgbClr val="FFFFFF"/>
                </a:solidFill>
                <a:latin typeface="Montserrat"/>
              </a:rPr>
              <a:t>PRIMA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5E7BDBC-7849-419B-899D-C03E63D39654}"/>
              </a:ext>
            </a:extLst>
          </p:cNvPr>
          <p:cNvSpPr txBox="1"/>
          <p:nvPr/>
        </p:nvSpPr>
        <p:spPr>
          <a:xfrm>
            <a:off x="571500" y="2540000"/>
            <a:ext cx="51435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Verbale scritto a mano su carta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Foto allegate manualmente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Scansione e invio via mail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Nessuno storico accessibile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EEBC568A-9DA3-4973-BC8C-AAB395ED77AE}"/>
              </a:ext>
            </a:extLst>
          </p:cNvPr>
          <p:cNvSpPr/>
          <p:nvPr/>
        </p:nvSpPr>
        <p:spPr>
          <a:xfrm>
            <a:off x="6223000" y="1841500"/>
            <a:ext cx="5651500" cy="3683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B033C468-6109-46F0-BA2E-7C68D9BD48C4}"/>
              </a:ext>
            </a:extLst>
          </p:cNvPr>
          <p:cNvSpPr/>
          <p:nvPr/>
        </p:nvSpPr>
        <p:spPr>
          <a:xfrm>
            <a:off x="6223000" y="1841500"/>
            <a:ext cx="2286000" cy="533400"/>
          </a:xfrm>
          <a:prstGeom prst="roundRect">
            <a:avLst/>
          </a:prstGeom>
          <a:solidFill>
            <a:srgbClr val="4A9B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600" b="1">
                <a:solidFill>
                  <a:srgbClr val="FFFFFF"/>
                </a:solidFill>
                <a:latin typeface="Montserrat"/>
              </a:rPr>
              <a:t>CON CANTIERI.AI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82AE23D-F713-4EE1-A03A-0CF49FF1C176}"/>
              </a:ext>
            </a:extLst>
          </p:cNvPr>
          <p:cNvSpPr txBox="1"/>
          <p:nvPr/>
        </p:nvSpPr>
        <p:spPr>
          <a:xfrm>
            <a:off x="6477000" y="2540000"/>
            <a:ext cx="51435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Compili il verbale su tablet in cantiere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Foto e firme digitali sul posto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Invio automatico a tutti gli interessati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Tutto storicizzato nel progetto</a:t>
            </a:r>
          </a:p>
        </p:txBody>
      </p:sp>
      <p:pic>
        <p:nvPicPr>
          <p:cNvPr id="9" name="Immagine 8" descr="Immagine che contiene schermata, arancione, Policromia, Rettangolo&#10;&#10;Il contenuto generato dall'IA potrebbe non essere corretto.">
            <a:extLst>
              <a:ext uri="{FF2B5EF4-FFF2-40B4-BE49-F238E27FC236}">
                <a16:creationId xmlns:a16="http://schemas.microsoft.com/office/drawing/2014/main" id="{361D8940-664F-9F76-3C55-87B9520DAF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0146" y="5695975"/>
            <a:ext cx="952707" cy="103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204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0E0DEF-EB86-3003-9305-AAF68D70E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190500"/>
            <a:ext cx="11176000" cy="762000"/>
          </a:xfrm>
        </p:spPr>
        <p:txBody>
          <a:bodyPr/>
          <a:lstStyle/>
          <a:p>
            <a:pPr algn="l">
              <a:buNone/>
            </a:pPr>
            <a:r>
              <a:rPr lang="it-IT" sz="2800" b="1" dirty="0">
                <a:solidFill>
                  <a:srgbClr val="FFFFFF"/>
                </a:solidFill>
                <a:latin typeface="Montserrat"/>
              </a:rPr>
              <a:t>Rapportini via WhatsApp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8211DCB7-61A9-423C-A56B-A64373AB15FE}"/>
              </a:ext>
            </a:extLst>
          </p:cNvPr>
          <p:cNvSpPr/>
          <p:nvPr/>
        </p:nvSpPr>
        <p:spPr>
          <a:xfrm>
            <a:off x="317500" y="1841500"/>
            <a:ext cx="5651500" cy="3683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ADD264D0-E1E9-462F-ACA5-CD0DCB9793C2}"/>
              </a:ext>
            </a:extLst>
          </p:cNvPr>
          <p:cNvSpPr/>
          <p:nvPr/>
        </p:nvSpPr>
        <p:spPr>
          <a:xfrm>
            <a:off x="317500" y="1841500"/>
            <a:ext cx="1778000" cy="533400"/>
          </a:xfrm>
          <a:prstGeom prst="roundRect">
            <a:avLst/>
          </a:prstGeom>
          <a:solidFill>
            <a:srgbClr val="D94F4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b="1">
                <a:solidFill>
                  <a:srgbClr val="FFFFFF"/>
                </a:solidFill>
                <a:latin typeface="Montserrat"/>
              </a:rPr>
              <a:t>PRIMA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A8068DC-E2A4-4FD6-A8F5-3AB1C4008F81}"/>
              </a:ext>
            </a:extLst>
          </p:cNvPr>
          <p:cNvSpPr txBox="1"/>
          <p:nvPr/>
        </p:nvSpPr>
        <p:spPr>
          <a:xfrm>
            <a:off x="571500" y="2540000"/>
            <a:ext cx="51435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Messaggi WhatsApp che si perdono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Le imprese non compilano rapportini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Nessuna traccia delle note spese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Informazioni frammentate e perse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F59C2120-D36A-4D03-B5C6-7D1A67AB4D97}"/>
              </a:ext>
            </a:extLst>
          </p:cNvPr>
          <p:cNvSpPr/>
          <p:nvPr/>
        </p:nvSpPr>
        <p:spPr>
          <a:xfrm>
            <a:off x="6223000" y="1841500"/>
            <a:ext cx="5651500" cy="3683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35D0AE54-DF1E-478C-8ECB-48D8B8EBFEF1}"/>
              </a:ext>
            </a:extLst>
          </p:cNvPr>
          <p:cNvSpPr/>
          <p:nvPr/>
        </p:nvSpPr>
        <p:spPr>
          <a:xfrm>
            <a:off x="6223000" y="1841500"/>
            <a:ext cx="2286000" cy="533400"/>
          </a:xfrm>
          <a:prstGeom prst="roundRect">
            <a:avLst/>
          </a:prstGeom>
          <a:solidFill>
            <a:srgbClr val="4A9B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600" b="1">
                <a:solidFill>
                  <a:srgbClr val="FFFFFF"/>
                </a:solidFill>
                <a:latin typeface="Montserrat"/>
              </a:rPr>
              <a:t>CON CANTIERI.AI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0EB7840-CB90-43A9-B515-AD08D40C7EC7}"/>
              </a:ext>
            </a:extLst>
          </p:cNvPr>
          <p:cNvSpPr txBox="1"/>
          <p:nvPr/>
        </p:nvSpPr>
        <p:spPr>
          <a:xfrm>
            <a:off x="6477000" y="2540000"/>
            <a:ext cx="51435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Rapportini dettati a voce su WhatsApp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Anche le imprese inviano vocali e foto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Note spese allegate automaticamente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Tutto tracciato e archiviato</a:t>
            </a:r>
          </a:p>
        </p:txBody>
      </p:sp>
      <p:pic>
        <p:nvPicPr>
          <p:cNvPr id="9" name="Immagine 8" descr="Immagine che contiene schermata, arancione, Policromia, Rettangolo&#10;&#10;Il contenuto generato dall'IA potrebbe non essere corretto.">
            <a:extLst>
              <a:ext uri="{FF2B5EF4-FFF2-40B4-BE49-F238E27FC236}">
                <a16:creationId xmlns:a16="http://schemas.microsoft.com/office/drawing/2014/main" id="{CD4DD0D2-3854-74B0-CF21-BF6534312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0146" y="5695975"/>
            <a:ext cx="952707" cy="103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93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35D0AE54-DF1E-478C-8ECB-48D8B8EBFEF1}"/>
              </a:ext>
            </a:extLst>
          </p:cNvPr>
          <p:cNvSpPr/>
          <p:nvPr/>
        </p:nvSpPr>
        <p:spPr>
          <a:xfrm>
            <a:off x="865475" y="2099249"/>
            <a:ext cx="2286000" cy="533400"/>
          </a:xfrm>
          <a:prstGeom prst="roundRect">
            <a:avLst/>
          </a:prstGeom>
          <a:solidFill>
            <a:srgbClr val="4A9B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600" b="1">
                <a:solidFill>
                  <a:srgbClr val="FFFFFF"/>
                </a:solidFill>
                <a:latin typeface="Montserrat"/>
              </a:rPr>
              <a:t>CON CANTIERI.AI</a:t>
            </a:r>
          </a:p>
        </p:txBody>
      </p:sp>
      <p:pic>
        <p:nvPicPr>
          <p:cNvPr id="9" name="Immagine 8" descr="Immagine che contiene schermata, arancione, Policromia, Rettangolo&#10;&#10;Il contenuto generato dall'IA potrebbe non essere corretto.">
            <a:extLst>
              <a:ext uri="{FF2B5EF4-FFF2-40B4-BE49-F238E27FC236}">
                <a16:creationId xmlns:a16="http://schemas.microsoft.com/office/drawing/2014/main" id="{CD4DD0D2-3854-74B0-CF21-BF6534312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121" y="881459"/>
            <a:ext cx="952707" cy="1036496"/>
          </a:xfrm>
          <a:prstGeom prst="rect">
            <a:avLst/>
          </a:prstGeom>
        </p:spPr>
      </p:pic>
      <p:pic>
        <p:nvPicPr>
          <p:cNvPr id="11" name="Immagine 10" descr="Immagine che contiene testo, elettronica, schermata, Cellulare&#10;&#10;Il contenuto generato dall'IA potrebbe non essere corretto.">
            <a:extLst>
              <a:ext uri="{FF2B5EF4-FFF2-40B4-BE49-F238E27FC236}">
                <a16:creationId xmlns:a16="http://schemas.microsoft.com/office/drawing/2014/main" id="{97963E2E-0C88-194A-1022-A5321D8F1D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635" y="0"/>
            <a:ext cx="78563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12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99B29D-00CC-C9CA-9AE4-98B7238EC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190500"/>
            <a:ext cx="11176000" cy="762000"/>
          </a:xfrm>
        </p:spPr>
        <p:txBody>
          <a:bodyPr/>
          <a:lstStyle/>
          <a:p>
            <a:pPr algn="l">
              <a:buNone/>
            </a:pPr>
            <a:r>
              <a:rPr lang="it-IT" sz="2800" b="1" dirty="0">
                <a:solidFill>
                  <a:srgbClr val="FFFFFF"/>
                </a:solidFill>
                <a:latin typeface="Montserrat"/>
              </a:rPr>
              <a:t>Sicurezza in cantiere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01F3E340-93A0-49DC-B098-491B5D39FD9D}"/>
              </a:ext>
            </a:extLst>
          </p:cNvPr>
          <p:cNvSpPr/>
          <p:nvPr/>
        </p:nvSpPr>
        <p:spPr>
          <a:xfrm>
            <a:off x="317500" y="1841500"/>
            <a:ext cx="5651500" cy="3683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CF160A5A-C1C5-4FB7-B03B-E99C1FFDDFBB}"/>
              </a:ext>
            </a:extLst>
          </p:cNvPr>
          <p:cNvSpPr/>
          <p:nvPr/>
        </p:nvSpPr>
        <p:spPr>
          <a:xfrm>
            <a:off x="317500" y="1841500"/>
            <a:ext cx="1778000" cy="533400"/>
          </a:xfrm>
          <a:prstGeom prst="roundRect">
            <a:avLst/>
          </a:prstGeom>
          <a:solidFill>
            <a:srgbClr val="D94F4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b="1">
                <a:solidFill>
                  <a:srgbClr val="FFFFFF"/>
                </a:solidFill>
                <a:latin typeface="Montserrat"/>
              </a:rPr>
              <a:t>PRIMA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2899509-1565-40F2-AFB7-6016B7433936}"/>
              </a:ext>
            </a:extLst>
          </p:cNvPr>
          <p:cNvSpPr txBox="1"/>
          <p:nvPr/>
        </p:nvSpPr>
        <p:spPr>
          <a:xfrm>
            <a:off x="571500" y="2540000"/>
            <a:ext cx="51435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Badge cartaceo o registro firme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Corsi di formazione non monitorati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Nessun alert su documenti scaduti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Ritardi scoperti troppo tardi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72E77A66-BE3A-4591-AB8C-3D022568BD08}"/>
              </a:ext>
            </a:extLst>
          </p:cNvPr>
          <p:cNvSpPr/>
          <p:nvPr/>
        </p:nvSpPr>
        <p:spPr>
          <a:xfrm>
            <a:off x="6223000" y="1841500"/>
            <a:ext cx="5651500" cy="3683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AF645E0B-D281-4454-95E8-D57E248ABA3D}"/>
              </a:ext>
            </a:extLst>
          </p:cNvPr>
          <p:cNvSpPr/>
          <p:nvPr/>
        </p:nvSpPr>
        <p:spPr>
          <a:xfrm>
            <a:off x="6223000" y="1841500"/>
            <a:ext cx="2286000" cy="533400"/>
          </a:xfrm>
          <a:prstGeom prst="roundRect">
            <a:avLst/>
          </a:prstGeom>
          <a:solidFill>
            <a:srgbClr val="4A9B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600" b="1">
                <a:solidFill>
                  <a:srgbClr val="FFFFFF"/>
                </a:solidFill>
                <a:latin typeface="Montserrat"/>
              </a:rPr>
              <a:t>CON CANTIERI.AI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E90B5E0-41FC-4559-85E4-0BDCE79FD1B4}"/>
              </a:ext>
            </a:extLst>
          </p:cNvPr>
          <p:cNvSpPr txBox="1"/>
          <p:nvPr/>
        </p:nvSpPr>
        <p:spPr>
          <a:xfrm>
            <a:off x="6477000" y="2540000"/>
            <a:ext cx="51435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Badge elettronico a norma di legge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Controllo automatico corsi scaduti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Alert al responsabile sicurezza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Notifica assenze e ritardi in tempo reale</a:t>
            </a:r>
          </a:p>
        </p:txBody>
      </p:sp>
      <p:pic>
        <p:nvPicPr>
          <p:cNvPr id="9" name="Immagine 8" descr="Immagine che contiene schermata, arancione, Policromia, Rettangolo&#10;&#10;Il contenuto generato dall'IA potrebbe non essere corretto.">
            <a:extLst>
              <a:ext uri="{FF2B5EF4-FFF2-40B4-BE49-F238E27FC236}">
                <a16:creationId xmlns:a16="http://schemas.microsoft.com/office/drawing/2014/main" id="{5583DA92-1787-F57B-BB72-D2CA7799FE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0146" y="5695975"/>
            <a:ext cx="952707" cy="103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065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A00F20-1C2F-2746-EA45-FE849E34C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190500"/>
            <a:ext cx="11176000" cy="762000"/>
          </a:xfrm>
        </p:spPr>
        <p:txBody>
          <a:bodyPr/>
          <a:lstStyle/>
          <a:p>
            <a:pPr algn="l">
              <a:buNone/>
            </a:pPr>
            <a:r>
              <a:rPr lang="it-IT" sz="2800" b="1" dirty="0">
                <a:solidFill>
                  <a:srgbClr val="FFFFFF"/>
                </a:solidFill>
                <a:latin typeface="Montserrat"/>
              </a:rPr>
              <a:t>Gestione immobili: documenti e scadenze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E8E6139A-D5CA-41A8-9461-B9CFC586489C}"/>
              </a:ext>
            </a:extLst>
          </p:cNvPr>
          <p:cNvSpPr/>
          <p:nvPr/>
        </p:nvSpPr>
        <p:spPr>
          <a:xfrm>
            <a:off x="317500" y="1841500"/>
            <a:ext cx="5651500" cy="3683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41AAC0C1-56D8-4F6F-B4ED-0450E30F5457}"/>
              </a:ext>
            </a:extLst>
          </p:cNvPr>
          <p:cNvSpPr/>
          <p:nvPr/>
        </p:nvSpPr>
        <p:spPr>
          <a:xfrm>
            <a:off x="317500" y="1841500"/>
            <a:ext cx="1778000" cy="533400"/>
          </a:xfrm>
          <a:prstGeom prst="roundRect">
            <a:avLst/>
          </a:prstGeom>
          <a:solidFill>
            <a:srgbClr val="D94F4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b="1">
                <a:solidFill>
                  <a:srgbClr val="FFFFFF"/>
                </a:solidFill>
                <a:latin typeface="Montserrat"/>
              </a:rPr>
              <a:t>PRIMA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954A412-8405-492D-9035-BB3BFB696C8C}"/>
              </a:ext>
            </a:extLst>
          </p:cNvPr>
          <p:cNvSpPr txBox="1"/>
          <p:nvPr/>
        </p:nvSpPr>
        <p:spPr>
          <a:xfrm>
            <a:off x="571500" y="2540000"/>
            <a:ext cx="51435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Faldoni e archivi cartacei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Scadenze non monitorate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Stato di salute edifici sconosciuto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Manutenzione straordinaria non prevista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305CD0CC-3A16-42D7-8989-11255AB3BC5C}"/>
              </a:ext>
            </a:extLst>
          </p:cNvPr>
          <p:cNvSpPr/>
          <p:nvPr/>
        </p:nvSpPr>
        <p:spPr>
          <a:xfrm>
            <a:off x="6223000" y="1841500"/>
            <a:ext cx="5651500" cy="3683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669DB49A-3568-4DCF-B614-CCECA84261ED}"/>
              </a:ext>
            </a:extLst>
          </p:cNvPr>
          <p:cNvSpPr/>
          <p:nvPr/>
        </p:nvSpPr>
        <p:spPr>
          <a:xfrm>
            <a:off x="6223000" y="1841500"/>
            <a:ext cx="2286000" cy="533400"/>
          </a:xfrm>
          <a:prstGeom prst="roundRect">
            <a:avLst/>
          </a:prstGeom>
          <a:solidFill>
            <a:srgbClr val="4A9B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600" b="1">
                <a:solidFill>
                  <a:srgbClr val="FFFFFF"/>
                </a:solidFill>
                <a:latin typeface="Montserrat"/>
              </a:rPr>
              <a:t>CON CANTIERI.AI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64152B7-45BC-495C-A735-F7EB19A041CB}"/>
              </a:ext>
            </a:extLst>
          </p:cNvPr>
          <p:cNvSpPr txBox="1"/>
          <p:nvPr/>
        </p:nvSpPr>
        <p:spPr>
          <a:xfrm>
            <a:off x="6477000" y="2540000"/>
            <a:ext cx="51435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Documenti digitalizzati per categorie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Scadenze con promemoria automatici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Stato di salute edifici aggiornato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Manutenzione assegnata a persone/ditte</a:t>
            </a:r>
          </a:p>
        </p:txBody>
      </p:sp>
      <p:pic>
        <p:nvPicPr>
          <p:cNvPr id="9" name="Immagine 8" descr="Immagine che contiene schermata, arancione, Policromia, Rettangolo&#10;&#10;Il contenuto generato dall'IA potrebbe non essere corretto.">
            <a:extLst>
              <a:ext uri="{FF2B5EF4-FFF2-40B4-BE49-F238E27FC236}">
                <a16:creationId xmlns:a16="http://schemas.microsoft.com/office/drawing/2014/main" id="{2F73C7A4-C60B-A083-F5E1-03C689A17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0146" y="5695975"/>
            <a:ext cx="952707" cy="103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569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82409B-C764-ECE0-3DAE-25252C00A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190500"/>
            <a:ext cx="11176000" cy="762000"/>
          </a:xfrm>
        </p:spPr>
        <p:txBody>
          <a:bodyPr/>
          <a:lstStyle/>
          <a:p>
            <a:pPr algn="l">
              <a:buNone/>
            </a:pPr>
            <a:r>
              <a:rPr lang="it-IT" sz="2800" b="1" dirty="0">
                <a:solidFill>
                  <a:srgbClr val="FFFFFF"/>
                </a:solidFill>
                <a:latin typeface="Montserrat"/>
              </a:rPr>
              <a:t>Helpdesk immobili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84FA3A3C-A36E-40D9-A968-3E1F3915956C}"/>
              </a:ext>
            </a:extLst>
          </p:cNvPr>
          <p:cNvSpPr/>
          <p:nvPr/>
        </p:nvSpPr>
        <p:spPr>
          <a:xfrm>
            <a:off x="317500" y="1841500"/>
            <a:ext cx="5651500" cy="3683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9E778068-3B09-4D00-BA54-8F10117313B6}"/>
              </a:ext>
            </a:extLst>
          </p:cNvPr>
          <p:cNvSpPr/>
          <p:nvPr/>
        </p:nvSpPr>
        <p:spPr>
          <a:xfrm>
            <a:off x="317500" y="1841500"/>
            <a:ext cx="1778000" cy="533400"/>
          </a:xfrm>
          <a:prstGeom prst="roundRect">
            <a:avLst/>
          </a:prstGeom>
          <a:solidFill>
            <a:srgbClr val="D94F4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b="1">
                <a:solidFill>
                  <a:srgbClr val="FFFFFF"/>
                </a:solidFill>
                <a:latin typeface="Montserrat"/>
              </a:rPr>
              <a:t>PRIMA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CE56D45-F2A1-43A7-B72B-254C831E03CE}"/>
              </a:ext>
            </a:extLst>
          </p:cNvPr>
          <p:cNvSpPr txBox="1"/>
          <p:nvPr/>
        </p:nvSpPr>
        <p:spPr>
          <a:xfrm>
            <a:off x="571500" y="2540000"/>
            <a:ext cx="51435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Il dirigente scolastico chiama per guasti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Nessun sistema di ticket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Le richieste si perdono tra le mail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Nessuno sa chi gestisce cosa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7BC5E0EF-F2F5-4313-9513-FA9A947AAC42}"/>
              </a:ext>
            </a:extLst>
          </p:cNvPr>
          <p:cNvSpPr/>
          <p:nvPr/>
        </p:nvSpPr>
        <p:spPr>
          <a:xfrm>
            <a:off x="6223000" y="1841500"/>
            <a:ext cx="5651500" cy="3683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65885A14-C002-4239-AFE9-8C1148F5D15C}"/>
              </a:ext>
            </a:extLst>
          </p:cNvPr>
          <p:cNvSpPr/>
          <p:nvPr/>
        </p:nvSpPr>
        <p:spPr>
          <a:xfrm>
            <a:off x="6223000" y="1841500"/>
            <a:ext cx="2286000" cy="533400"/>
          </a:xfrm>
          <a:prstGeom prst="roundRect">
            <a:avLst/>
          </a:prstGeom>
          <a:solidFill>
            <a:srgbClr val="4A9B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600" b="1">
                <a:solidFill>
                  <a:srgbClr val="FFFFFF"/>
                </a:solidFill>
                <a:latin typeface="Montserrat"/>
              </a:rPr>
              <a:t>CON CANTIERI.AI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740BAFD-EB9E-4AD7-964E-664867BEEB17}"/>
              </a:ext>
            </a:extLst>
          </p:cNvPr>
          <p:cNvSpPr txBox="1"/>
          <p:nvPr/>
        </p:nvSpPr>
        <p:spPr>
          <a:xfrm>
            <a:off x="6477000" y="2540000"/>
            <a:ext cx="51435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Richiesta intervento con un click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Notifica automatica al responsabile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Apertura automatica manutenzione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Tutti gli attori informati in tempo reale</a:t>
            </a:r>
          </a:p>
        </p:txBody>
      </p:sp>
      <p:pic>
        <p:nvPicPr>
          <p:cNvPr id="9" name="Immagine 8" descr="Immagine che contiene schermata, arancione, Policromia, Rettangolo&#10;&#10;Il contenuto generato dall'IA potrebbe non essere corretto.">
            <a:extLst>
              <a:ext uri="{FF2B5EF4-FFF2-40B4-BE49-F238E27FC236}">
                <a16:creationId xmlns:a16="http://schemas.microsoft.com/office/drawing/2014/main" id="{9485F144-5037-1E45-8014-F02C446C8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0146" y="5695975"/>
            <a:ext cx="952707" cy="103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412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3524A0-A45D-31DB-EB05-00CDBF973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190500"/>
            <a:ext cx="11176000" cy="762000"/>
          </a:xfrm>
        </p:spPr>
        <p:txBody>
          <a:bodyPr/>
          <a:lstStyle/>
          <a:p>
            <a:pPr algn="l">
              <a:buNone/>
            </a:pPr>
            <a:r>
              <a:rPr lang="it-IT" sz="2800" b="1" dirty="0">
                <a:solidFill>
                  <a:srgbClr val="FFFFFF"/>
                </a:solidFill>
                <a:latin typeface="Montserrat"/>
              </a:rPr>
              <a:t>Analisi dei consumi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538161D1-5954-459C-8970-651F44708A88}"/>
              </a:ext>
            </a:extLst>
          </p:cNvPr>
          <p:cNvSpPr/>
          <p:nvPr/>
        </p:nvSpPr>
        <p:spPr>
          <a:xfrm>
            <a:off x="317500" y="1841500"/>
            <a:ext cx="5651500" cy="3683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7D7C1802-5357-4852-B1FB-4761AB5D4FB2}"/>
              </a:ext>
            </a:extLst>
          </p:cNvPr>
          <p:cNvSpPr/>
          <p:nvPr/>
        </p:nvSpPr>
        <p:spPr>
          <a:xfrm>
            <a:off x="317500" y="1841500"/>
            <a:ext cx="1778000" cy="533400"/>
          </a:xfrm>
          <a:prstGeom prst="roundRect">
            <a:avLst/>
          </a:prstGeom>
          <a:solidFill>
            <a:srgbClr val="D94F4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b="1">
                <a:solidFill>
                  <a:srgbClr val="FFFFFF"/>
                </a:solidFill>
                <a:latin typeface="Montserrat"/>
              </a:rPr>
              <a:t>PRIMA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0C527B7-17B1-491F-8E61-BEE71108C135}"/>
              </a:ext>
            </a:extLst>
          </p:cNvPr>
          <p:cNvSpPr txBox="1"/>
          <p:nvPr/>
        </p:nvSpPr>
        <p:spPr>
          <a:xfrm>
            <a:off x="571500" y="2540000"/>
            <a:ext cx="51435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Bollette in un cassetto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Sprechi non individuati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Nessuna analisi su acqua, gas, luce</a:t>
            </a:r>
          </a:p>
          <a:p>
            <a:pPr>
              <a:buFont typeface="Arial"/>
              <a:buChar char="✗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Decisioni senza dati (es. fotovoltaico)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64A6C431-ABCB-454A-9F41-609EF75B18A5}"/>
              </a:ext>
            </a:extLst>
          </p:cNvPr>
          <p:cNvSpPr/>
          <p:nvPr/>
        </p:nvSpPr>
        <p:spPr>
          <a:xfrm>
            <a:off x="6223000" y="1841500"/>
            <a:ext cx="5651500" cy="3683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16D3C206-3CD6-4B6E-AC68-C69FB3306D24}"/>
              </a:ext>
            </a:extLst>
          </p:cNvPr>
          <p:cNvSpPr/>
          <p:nvPr/>
        </p:nvSpPr>
        <p:spPr>
          <a:xfrm>
            <a:off x="6223000" y="1841500"/>
            <a:ext cx="2286000" cy="533400"/>
          </a:xfrm>
          <a:prstGeom prst="roundRect">
            <a:avLst/>
          </a:prstGeom>
          <a:solidFill>
            <a:srgbClr val="4A9B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600" b="1">
                <a:solidFill>
                  <a:srgbClr val="FFFFFF"/>
                </a:solidFill>
                <a:latin typeface="Montserrat"/>
              </a:rPr>
              <a:t>CON CANTIERI.AI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4751D83-21F3-4380-9847-ACDEC61C0AE7}"/>
              </a:ext>
            </a:extLst>
          </p:cNvPr>
          <p:cNvSpPr txBox="1"/>
          <p:nvPr/>
        </p:nvSpPr>
        <p:spPr>
          <a:xfrm>
            <a:off x="6477000" y="2540000"/>
            <a:ext cx="51435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Dati da bollette o sensori IoT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Monitoraggio acqua, gas, luce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Individuazione sprechi automatica</a:t>
            </a:r>
          </a:p>
          <a:p>
            <a:pPr>
              <a:buFont typeface="Arial"/>
              <a:buChar char="✓"/>
            </a:pPr>
            <a:r>
              <a:rPr lang="it-IT" sz="2000" dirty="0">
                <a:solidFill>
                  <a:srgbClr val="FFFFFF"/>
                </a:solidFill>
                <a:latin typeface="Open Sans"/>
              </a:rPr>
              <a:t>  Dati reali per decisioni strategiche</a:t>
            </a:r>
          </a:p>
        </p:txBody>
      </p:sp>
      <p:pic>
        <p:nvPicPr>
          <p:cNvPr id="9" name="Immagine 8" descr="Immagine che contiene schermata, arancione, Policromia, Rettangolo&#10;&#10;Il contenuto generato dall'IA potrebbe non essere corretto.">
            <a:extLst>
              <a:ext uri="{FF2B5EF4-FFF2-40B4-BE49-F238E27FC236}">
                <a16:creationId xmlns:a16="http://schemas.microsoft.com/office/drawing/2014/main" id="{0BCDC135-87C9-5A9C-738D-55D036505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0146" y="5695975"/>
            <a:ext cx="952707" cy="103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371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9E73B7-BB84-4C91-EE4D-6193949B0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190500"/>
            <a:ext cx="11176000" cy="762000"/>
          </a:xfrm>
        </p:spPr>
        <p:txBody>
          <a:bodyPr/>
          <a:lstStyle/>
          <a:p>
            <a:pPr algn="l">
              <a:buNone/>
            </a:pPr>
            <a:r>
              <a:rPr lang="it-IT" sz="2800" b="1" dirty="0">
                <a:solidFill>
                  <a:srgbClr val="FFFFFF"/>
                </a:solidFill>
                <a:latin typeface="Montserrat"/>
              </a:rPr>
              <a:t>L'Intelligenza Artificiale </a:t>
            </a:r>
            <a:r>
              <a:rPr lang="it-IT" sz="2800" b="1" dirty="0">
                <a:solidFill>
                  <a:srgbClr val="F2890A"/>
                </a:solidFill>
                <a:latin typeface="Montserrat"/>
              </a:rPr>
              <a:t>al tuo fianco</a:t>
            </a:r>
          </a:p>
        </p:txBody>
      </p:sp>
      <p:pic>
        <p:nvPicPr>
          <p:cNvPr id="3" name="Graphic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0" y="1270000"/>
            <a:ext cx="698500" cy="698500"/>
          </a:xfrm>
          <a:prstGeom prst="rect">
            <a:avLst/>
          </a:prstGeom>
        </p:spPr>
      </p:pic>
      <p:pic>
        <p:nvPicPr>
          <p:cNvPr id="4" name="Graphic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000" y="3302000"/>
            <a:ext cx="698500" cy="698500"/>
          </a:xfrm>
          <a:prstGeom prst="rect">
            <a:avLst/>
          </a:prstGeom>
        </p:spPr>
      </p:pic>
      <p:pic>
        <p:nvPicPr>
          <p:cNvPr id="5" name="Graphic 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3000" y="1270000"/>
            <a:ext cx="698500" cy="698500"/>
          </a:xfrm>
          <a:prstGeom prst="rect">
            <a:avLst/>
          </a:prstGeom>
        </p:spPr>
      </p:pic>
      <p:pic>
        <p:nvPicPr>
          <p:cNvPr id="6" name="Graphic 6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23000" y="3302000"/>
            <a:ext cx="698500" cy="69850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479E38CB-63BE-4C73-B5B8-5A38353ACCAB}"/>
              </a:ext>
            </a:extLst>
          </p:cNvPr>
          <p:cNvSpPr txBox="1"/>
          <p:nvPr/>
        </p:nvSpPr>
        <p:spPr>
          <a:xfrm>
            <a:off x="1397000" y="1270000"/>
            <a:ext cx="444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200" b="1">
                <a:solidFill>
                  <a:srgbClr val="FFFFFF"/>
                </a:solidFill>
                <a:latin typeface="Montserrat"/>
              </a:rPr>
              <a:t>Assistente personale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6D7F465-45D4-4C55-9528-8F277F84E663}"/>
              </a:ext>
            </a:extLst>
          </p:cNvPr>
          <p:cNvSpPr txBox="1"/>
          <p:nvPr/>
        </p:nvSpPr>
        <p:spPr>
          <a:xfrm>
            <a:off x="1397000" y="1778000"/>
            <a:ext cx="4445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600">
                <a:solidFill>
                  <a:srgbClr val="C0C0C0"/>
                </a:solidFill>
                <a:latin typeface="Open Sans"/>
                <a:ea typeface="Open Sans"/>
                <a:cs typeface="Open Sans"/>
              </a:rPr>
              <a:t>Ti aggiorna sullo stato dei lavori con
statistiche, grafici e report pronti.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E60F9CA-9CC6-4A2B-9CCE-A8D7E2F2F312}"/>
              </a:ext>
            </a:extLst>
          </p:cNvPr>
          <p:cNvSpPr txBox="1"/>
          <p:nvPr/>
        </p:nvSpPr>
        <p:spPr>
          <a:xfrm>
            <a:off x="1397000" y="3302000"/>
            <a:ext cx="444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200" b="1">
                <a:solidFill>
                  <a:srgbClr val="FFFFFF"/>
                </a:solidFill>
                <a:latin typeface="Montserrat"/>
              </a:rPr>
              <a:t>Ricerca intelligente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B21067C-8760-40D4-8C5A-7F1BCA41556C}"/>
              </a:ext>
            </a:extLst>
          </p:cNvPr>
          <p:cNvSpPr txBox="1"/>
          <p:nvPr/>
        </p:nvSpPr>
        <p:spPr>
          <a:xfrm>
            <a:off x="1397000" y="3810000"/>
            <a:ext cx="4445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600">
                <a:solidFill>
                  <a:srgbClr val="C0C0C0"/>
                </a:solidFill>
                <a:latin typeface="Open Sans"/>
                <a:ea typeface="Open Sans"/>
                <a:cs typeface="Open Sans"/>
              </a:rPr>
              <a:t>Trova documenti e imprese giuste
in pochi secondi, senza cercare.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CB8F867-07BB-4740-B0ED-D1555571B20B}"/>
              </a:ext>
            </a:extLst>
          </p:cNvPr>
          <p:cNvSpPr txBox="1"/>
          <p:nvPr/>
        </p:nvSpPr>
        <p:spPr>
          <a:xfrm>
            <a:off x="7112000" y="1270000"/>
            <a:ext cx="444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200" b="1">
                <a:solidFill>
                  <a:srgbClr val="FFFFFF"/>
                </a:solidFill>
                <a:latin typeface="Montserrat"/>
              </a:rPr>
              <a:t>Analisi foto sopralluoghi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0DF0823-E8E3-4799-9CCB-3E055E9BDF35}"/>
              </a:ext>
            </a:extLst>
          </p:cNvPr>
          <p:cNvSpPr txBox="1"/>
          <p:nvPr/>
        </p:nvSpPr>
        <p:spPr>
          <a:xfrm>
            <a:off x="7112000" y="1778000"/>
            <a:ext cx="4445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600">
                <a:solidFill>
                  <a:srgbClr val="C0C0C0"/>
                </a:solidFill>
                <a:latin typeface="Open Sans"/>
                <a:ea typeface="Open Sans"/>
                <a:cs typeface="Open Sans"/>
              </a:rPr>
              <a:t>Dalle foto dei sopralluoghi, l'AI prevede
i lavori da fare e crea le attività.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82486D3-F259-46D7-B45D-A129161D132B}"/>
              </a:ext>
            </a:extLst>
          </p:cNvPr>
          <p:cNvSpPr txBox="1"/>
          <p:nvPr/>
        </p:nvSpPr>
        <p:spPr>
          <a:xfrm>
            <a:off x="7112000" y="3302000"/>
            <a:ext cx="444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200" b="1">
                <a:solidFill>
                  <a:srgbClr val="FFFFFF"/>
                </a:solidFill>
                <a:latin typeface="Montserrat"/>
              </a:rPr>
              <a:t>Tutto via WhatsApp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65E4B8A-0206-4C8F-9163-6AA3CE7A85C0}"/>
              </a:ext>
            </a:extLst>
          </p:cNvPr>
          <p:cNvSpPr txBox="1"/>
          <p:nvPr/>
        </p:nvSpPr>
        <p:spPr>
          <a:xfrm>
            <a:off x="7112000" y="3810000"/>
            <a:ext cx="4445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600">
                <a:solidFill>
                  <a:srgbClr val="C0C0C0"/>
                </a:solidFill>
                <a:latin typeface="Open Sans"/>
                <a:ea typeface="Open Sans"/>
                <a:cs typeface="Open Sans"/>
              </a:rPr>
              <a:t>Chiedi aggiornamenti, invia vocali,
foto e rapportini direttamente da chat.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C4FB9686-51CB-4D51-9800-5C6ACACE7982}"/>
              </a:ext>
            </a:extLst>
          </p:cNvPr>
          <p:cNvSpPr/>
          <p:nvPr/>
        </p:nvSpPr>
        <p:spPr>
          <a:xfrm>
            <a:off x="508000" y="5143500"/>
            <a:ext cx="11176000" cy="889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90B2305-EA49-47B6-83A3-F5F08A778661}"/>
              </a:ext>
            </a:extLst>
          </p:cNvPr>
          <p:cNvSpPr txBox="1"/>
          <p:nvPr/>
        </p:nvSpPr>
        <p:spPr>
          <a:xfrm>
            <a:off x="762000" y="5207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i="1">
                <a:solidFill>
                  <a:srgbClr val="F2890A"/>
                </a:solidFill>
                <a:latin typeface="Open Sans"/>
                <a:ea typeface="Open Sans"/>
                <a:cs typeface="Open Sans"/>
              </a:rPr>
              <a:t>L'AI non sostituisce il vostro lavoro: lo semplifica.
Avrete informazioni aggiornate sempre a portata di mano.</a:t>
            </a:r>
          </a:p>
        </p:txBody>
      </p:sp>
      <p:pic>
        <p:nvPicPr>
          <p:cNvPr id="17" name="Immagine 16" descr="Immagine che contiene schermata, arancione, Policromia, Rettangolo&#10;&#10;Il contenuto generato dall'IA potrebbe non essere corretto.">
            <a:extLst>
              <a:ext uri="{FF2B5EF4-FFF2-40B4-BE49-F238E27FC236}">
                <a16:creationId xmlns:a16="http://schemas.microsoft.com/office/drawing/2014/main" id="{E6C16451-86DC-6990-E26D-2C59A71CD2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0146" y="5695975"/>
            <a:ext cx="952707" cy="103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618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9E73B7-BB84-4C91-EE4D-6193949B0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190500"/>
            <a:ext cx="11176000" cy="762000"/>
          </a:xfrm>
        </p:spPr>
        <p:txBody>
          <a:bodyPr/>
          <a:lstStyle/>
          <a:p>
            <a:pPr algn="l">
              <a:buNone/>
            </a:pPr>
            <a:r>
              <a:rPr lang="it-IT" sz="2800" b="1" dirty="0">
                <a:solidFill>
                  <a:srgbClr val="FFFFFF"/>
                </a:solidFill>
                <a:latin typeface="Montserrat"/>
              </a:rPr>
              <a:t>Cos'altro può fare </a:t>
            </a:r>
            <a:r>
              <a:rPr lang="it-IT" sz="2800" b="1" dirty="0">
                <a:solidFill>
                  <a:srgbClr val="F2890A"/>
                </a:solidFill>
                <a:latin typeface="Montserrat"/>
              </a:rPr>
              <a:t>l'AI per voi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79E38CB-63BE-4C73-B5B8-5A38353ACCAB}"/>
              </a:ext>
            </a:extLst>
          </p:cNvPr>
          <p:cNvSpPr txBox="1"/>
          <p:nvPr/>
        </p:nvSpPr>
        <p:spPr>
          <a:xfrm>
            <a:off x="1397000" y="1270000"/>
            <a:ext cx="444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200" b="1" dirty="0">
                <a:solidFill>
                  <a:srgbClr val="FFFFFF"/>
                </a:solidFill>
                <a:latin typeface="Montserrat"/>
              </a:rPr>
              <a:t>Predizione guasti impianti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6D7F465-45D4-4C55-9528-8F277F84E663}"/>
              </a:ext>
            </a:extLst>
          </p:cNvPr>
          <p:cNvSpPr txBox="1"/>
          <p:nvPr/>
        </p:nvSpPr>
        <p:spPr>
          <a:xfrm>
            <a:off x="1397000" y="1778000"/>
            <a:ext cx="4445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600" dirty="0">
                <a:solidFill>
                  <a:srgbClr val="C0C0C0"/>
                </a:solidFill>
                <a:latin typeface="Open Sans"/>
                <a:ea typeface="Open Sans"/>
                <a:cs typeface="Open Sans"/>
              </a:rPr>
              <a:t>Analizza storico guasti e geolocalizzazione
per prevedere dove si romperanno le reti.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E60F9CA-9CC6-4A2B-9CCE-A8D7E2F2F312}"/>
              </a:ext>
            </a:extLst>
          </p:cNvPr>
          <p:cNvSpPr txBox="1"/>
          <p:nvPr/>
        </p:nvSpPr>
        <p:spPr>
          <a:xfrm>
            <a:off x="1397000" y="3302000"/>
            <a:ext cx="444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200" b="1" dirty="0">
                <a:solidFill>
                  <a:srgbClr val="FFFFFF"/>
                </a:solidFill>
                <a:latin typeface="Montserrat"/>
              </a:rPr>
              <a:t>Manutenzione predittiva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B21067C-8760-40D4-8C5A-7F1BCA41556C}"/>
              </a:ext>
            </a:extLst>
          </p:cNvPr>
          <p:cNvSpPr txBox="1"/>
          <p:nvPr/>
        </p:nvSpPr>
        <p:spPr>
          <a:xfrm>
            <a:off x="1397000" y="3810000"/>
            <a:ext cx="4445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600" dirty="0">
                <a:solidFill>
                  <a:srgbClr val="C0C0C0"/>
                </a:solidFill>
                <a:latin typeface="Open Sans"/>
                <a:ea typeface="Open Sans"/>
                <a:cs typeface="Open Sans"/>
              </a:rPr>
              <a:t>Pianifica interventi prima che il guasto
avvenga, riducendo costi e disservizi.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CB8F867-07BB-4740-B0ED-D1555571B20B}"/>
              </a:ext>
            </a:extLst>
          </p:cNvPr>
          <p:cNvSpPr txBox="1"/>
          <p:nvPr/>
        </p:nvSpPr>
        <p:spPr>
          <a:xfrm>
            <a:off x="7112000" y="1270000"/>
            <a:ext cx="444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200" b="1" dirty="0">
                <a:solidFill>
                  <a:srgbClr val="FFFFFF"/>
                </a:solidFill>
                <a:latin typeface="Montserrat"/>
              </a:rPr>
              <a:t>Mappe di rischio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0DF0823-E8E3-4799-9CCB-3E055E9BDF35}"/>
              </a:ext>
            </a:extLst>
          </p:cNvPr>
          <p:cNvSpPr txBox="1"/>
          <p:nvPr/>
        </p:nvSpPr>
        <p:spPr>
          <a:xfrm>
            <a:off x="7112000" y="1778000"/>
            <a:ext cx="4445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600" dirty="0">
                <a:solidFill>
                  <a:srgbClr val="C0C0C0"/>
                </a:solidFill>
                <a:latin typeface="Open Sans"/>
                <a:ea typeface="Open Sans"/>
                <a:cs typeface="Open Sans"/>
              </a:rPr>
              <a:t>Visualizza su mappa le zone a maggior
rischio rottura in base ai dati storici.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82486D3-F259-46D7-B45D-A129161D132B}"/>
              </a:ext>
            </a:extLst>
          </p:cNvPr>
          <p:cNvSpPr txBox="1"/>
          <p:nvPr/>
        </p:nvSpPr>
        <p:spPr>
          <a:xfrm>
            <a:off x="7112000" y="3302000"/>
            <a:ext cx="444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200" b="1" dirty="0">
                <a:solidFill>
                  <a:srgbClr val="FFFFFF"/>
                </a:solidFill>
                <a:latin typeface="Montserrat"/>
              </a:rPr>
              <a:t>Priorità interventi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65E4B8A-0206-4C8F-9163-6AA3CE7A85C0}"/>
              </a:ext>
            </a:extLst>
          </p:cNvPr>
          <p:cNvSpPr txBox="1"/>
          <p:nvPr/>
        </p:nvSpPr>
        <p:spPr>
          <a:xfrm>
            <a:off x="7112000" y="3810000"/>
            <a:ext cx="4445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600" dirty="0">
                <a:solidFill>
                  <a:srgbClr val="C0C0C0"/>
                </a:solidFill>
                <a:latin typeface="Open Sans"/>
                <a:ea typeface="Open Sans"/>
                <a:cs typeface="Open Sans"/>
              </a:rPr>
              <a:t>L'AI classifica urgenza e impatto per
ottimizzare il piano di manutenzione.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C4FB9686-51CB-4D51-9800-5C6ACACE7982}"/>
              </a:ext>
            </a:extLst>
          </p:cNvPr>
          <p:cNvSpPr/>
          <p:nvPr/>
        </p:nvSpPr>
        <p:spPr>
          <a:xfrm>
            <a:off x="508000" y="5143500"/>
            <a:ext cx="11176000" cy="889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90B2305-EA49-47B6-83A3-F5F08A778661}"/>
              </a:ext>
            </a:extLst>
          </p:cNvPr>
          <p:cNvSpPr txBox="1"/>
          <p:nvPr/>
        </p:nvSpPr>
        <p:spPr>
          <a:xfrm>
            <a:off x="762000" y="5207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i="1" dirty="0">
                <a:solidFill>
                  <a:srgbClr val="F2890A"/>
                </a:solidFill>
                <a:latin typeface="Open Sans"/>
                <a:ea typeface="Open Sans"/>
                <a:cs typeface="Open Sans"/>
              </a:rPr>
              <a:t>Dai dati storici alle decisioni: l'AI trasforma le informazioni
in azioni concrete per prevenire i problemi prima che accadano.</a:t>
            </a:r>
          </a:p>
        </p:txBody>
      </p:sp>
      <p:pic>
        <p:nvPicPr>
          <p:cNvPr id="17" name="Immagine 16" descr="Immagine che contiene schermata, arancione, Policromia, Rettangolo&#10;&#10;Il contenuto generato dall'IA potrebbe non essere corretto.">
            <a:extLst>
              <a:ext uri="{FF2B5EF4-FFF2-40B4-BE49-F238E27FC236}">
                <a16:creationId xmlns:a16="http://schemas.microsoft.com/office/drawing/2014/main" id="{E6C16451-86DC-6990-E26D-2C59A71CD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0146" y="5695975"/>
            <a:ext cx="952707" cy="1036496"/>
          </a:xfrm>
          <a:prstGeom prst="rect">
            <a:avLst/>
          </a:prstGeom>
        </p:spPr>
      </p:pic>
      <p:pic>
        <p:nvPicPr>
          <p:cNvPr id="18" name="Graphic 18" descr="Icona predizione guasti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000" y="1270000"/>
            <a:ext cx="698500" cy="698500"/>
          </a:xfrm>
          <a:prstGeom prst="rect">
            <a:avLst/>
          </a:prstGeom>
        </p:spPr>
      </p:pic>
      <p:pic>
        <p:nvPicPr>
          <p:cNvPr id="19" name="Graphic 19" descr="Icona manutenzione predittiva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000" y="3302000"/>
            <a:ext cx="698500" cy="698500"/>
          </a:xfrm>
          <a:prstGeom prst="rect">
            <a:avLst/>
          </a:prstGeom>
        </p:spPr>
      </p:pic>
      <p:pic>
        <p:nvPicPr>
          <p:cNvPr id="20" name="Graphic 20" descr="Icona mappe di rischio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3000" y="1270000"/>
            <a:ext cx="698500" cy="698500"/>
          </a:xfrm>
          <a:prstGeom prst="rect">
            <a:avLst/>
          </a:prstGeom>
        </p:spPr>
      </p:pic>
      <p:pic>
        <p:nvPicPr>
          <p:cNvPr id="21" name="Graphic 21" descr="Icona priorità interventi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23000" y="330200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362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902FC4-F075-06DA-A0EC-04CAD84E8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1325563"/>
          </a:xfrm>
        </p:spPr>
        <p:txBody>
          <a:bodyPr/>
          <a:lstStyle/>
          <a:p>
            <a:pPr algn="l">
              <a:buNone/>
            </a:pPr>
            <a:r>
              <a:rPr lang="it-IT" sz="2800" b="1" dirty="0">
                <a:solidFill>
                  <a:srgbClr val="FFFFFF"/>
                </a:solidFill>
                <a:latin typeface="Montserrat"/>
              </a:rPr>
              <a:t>Perché scegliere </a:t>
            </a:r>
            <a:r>
              <a:rPr lang="it-IT" sz="2800" b="1" dirty="0">
                <a:solidFill>
                  <a:srgbClr val="F2890A"/>
                </a:solidFill>
                <a:latin typeface="Montserrat"/>
              </a:rPr>
              <a:t>cantieri.ai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13B645A9-610D-479C-823F-CBABDBE26850}"/>
              </a:ext>
            </a:extLst>
          </p:cNvPr>
          <p:cNvSpPr/>
          <p:nvPr/>
        </p:nvSpPr>
        <p:spPr>
          <a:xfrm>
            <a:off x="508000" y="2159000"/>
            <a:ext cx="3429000" cy="1524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D7A821A7-BDD6-4E33-BE80-5F3A454553C6}"/>
              </a:ext>
            </a:extLst>
          </p:cNvPr>
          <p:cNvSpPr/>
          <p:nvPr/>
        </p:nvSpPr>
        <p:spPr>
          <a:xfrm>
            <a:off x="698500" y="2349500"/>
            <a:ext cx="457200" cy="457200"/>
          </a:xfrm>
          <a:prstGeom prst="ellipse">
            <a:avLst/>
          </a:prstGeom>
          <a:solidFill>
            <a:srgbClr val="F2890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6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10D8E6D-0F79-490A-818C-19C31B52B039}"/>
              </a:ext>
            </a:extLst>
          </p:cNvPr>
          <p:cNvSpPr txBox="1"/>
          <p:nvPr/>
        </p:nvSpPr>
        <p:spPr>
          <a:xfrm>
            <a:off x="1270000" y="23495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b="1">
                <a:solidFill>
                  <a:srgbClr val="FFFFFF"/>
                </a:solidFill>
                <a:latin typeface="Montserrat"/>
              </a:rPr>
              <a:t>Tutto in un'unica piattaforma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834D280-BC16-4F22-A495-D4EC6460ED6A}"/>
              </a:ext>
            </a:extLst>
          </p:cNvPr>
          <p:cNvSpPr txBox="1"/>
          <p:nvPr/>
        </p:nvSpPr>
        <p:spPr>
          <a:xfrm>
            <a:off x="1270000" y="2965836"/>
            <a:ext cx="2476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500" dirty="0">
                <a:solidFill>
                  <a:srgbClr val="C0C0C0"/>
                </a:solidFill>
                <a:latin typeface="Open Sans"/>
                <a:ea typeface="Open Sans"/>
                <a:cs typeface="Open Sans"/>
              </a:rPr>
              <a:t>Cantieri, immobili, documenti, consumi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DDF7480A-0139-4600-A099-D4A85C7945C3}"/>
              </a:ext>
            </a:extLst>
          </p:cNvPr>
          <p:cNvSpPr/>
          <p:nvPr/>
        </p:nvSpPr>
        <p:spPr>
          <a:xfrm>
            <a:off x="4191000" y="2159000"/>
            <a:ext cx="3429000" cy="1524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12E24362-8D37-4BB1-A08D-DE66454B73F1}"/>
              </a:ext>
            </a:extLst>
          </p:cNvPr>
          <p:cNvSpPr/>
          <p:nvPr/>
        </p:nvSpPr>
        <p:spPr>
          <a:xfrm>
            <a:off x="4381500" y="2349500"/>
            <a:ext cx="457200" cy="457200"/>
          </a:xfrm>
          <a:prstGeom prst="ellipse">
            <a:avLst/>
          </a:prstGeom>
          <a:solidFill>
            <a:srgbClr val="F2890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6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8E8323A-C3A9-4EB6-8415-C8414EFCD88C}"/>
              </a:ext>
            </a:extLst>
          </p:cNvPr>
          <p:cNvSpPr txBox="1"/>
          <p:nvPr/>
        </p:nvSpPr>
        <p:spPr>
          <a:xfrm>
            <a:off x="4953000" y="23495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b="1">
                <a:solidFill>
                  <a:srgbClr val="FFFFFF"/>
                </a:solidFill>
                <a:latin typeface="Montserrat"/>
              </a:rPr>
              <a:t>Informazioni in tempo reale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EFC33A4-68CC-4512-9313-21690F17E096}"/>
              </a:ext>
            </a:extLst>
          </p:cNvPr>
          <p:cNvSpPr txBox="1"/>
          <p:nvPr/>
        </p:nvSpPr>
        <p:spPr>
          <a:xfrm>
            <a:off x="4953000" y="2929014"/>
            <a:ext cx="2476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500" dirty="0">
                <a:solidFill>
                  <a:srgbClr val="C0C0C0"/>
                </a:solidFill>
                <a:latin typeface="Open Sans"/>
                <a:ea typeface="Open Sans"/>
                <a:cs typeface="Open Sans"/>
              </a:rPr>
              <a:t>Monitoraggio avanzamento e consuntivi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08040EC5-828D-4633-98BB-50F79EBA8D60}"/>
              </a:ext>
            </a:extLst>
          </p:cNvPr>
          <p:cNvSpPr/>
          <p:nvPr/>
        </p:nvSpPr>
        <p:spPr>
          <a:xfrm>
            <a:off x="7874000" y="2159000"/>
            <a:ext cx="3429000" cy="1524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9BFB56D4-D9F0-4436-985E-7068C1FFA72E}"/>
              </a:ext>
            </a:extLst>
          </p:cNvPr>
          <p:cNvSpPr/>
          <p:nvPr/>
        </p:nvSpPr>
        <p:spPr>
          <a:xfrm>
            <a:off x="8064500" y="2349500"/>
            <a:ext cx="457200" cy="457200"/>
          </a:xfrm>
          <a:prstGeom prst="ellipse">
            <a:avLst/>
          </a:prstGeom>
          <a:solidFill>
            <a:srgbClr val="F2890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6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4D4F763-4DDD-4491-837E-AE818CF55626}"/>
              </a:ext>
            </a:extLst>
          </p:cNvPr>
          <p:cNvSpPr txBox="1"/>
          <p:nvPr/>
        </p:nvSpPr>
        <p:spPr>
          <a:xfrm>
            <a:off x="8636000" y="23495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b="1">
                <a:solidFill>
                  <a:srgbClr val="FFFFFF"/>
                </a:solidFill>
                <a:latin typeface="Montserrat"/>
              </a:rPr>
              <a:t>Accessibile da ovunque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3ABEAFB-991A-4570-9219-237EC57F97A2}"/>
              </a:ext>
            </a:extLst>
          </p:cNvPr>
          <p:cNvSpPr txBox="1"/>
          <p:nvPr/>
        </p:nvSpPr>
        <p:spPr>
          <a:xfrm>
            <a:off x="8636000" y="2984247"/>
            <a:ext cx="2476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500" dirty="0">
                <a:solidFill>
                  <a:srgbClr val="C0C0C0"/>
                </a:solidFill>
                <a:latin typeface="Open Sans"/>
                <a:ea typeface="Open Sans"/>
                <a:cs typeface="Open Sans"/>
              </a:rPr>
              <a:t>App, tablet, smartphone, WhatsApp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99FDA924-19DD-4667-A6BD-388F7C53340C}"/>
              </a:ext>
            </a:extLst>
          </p:cNvPr>
          <p:cNvSpPr/>
          <p:nvPr/>
        </p:nvSpPr>
        <p:spPr>
          <a:xfrm>
            <a:off x="508000" y="3937000"/>
            <a:ext cx="3429000" cy="1524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554CB82B-1B91-469F-BDA1-F6CB4FE4CD0D}"/>
              </a:ext>
            </a:extLst>
          </p:cNvPr>
          <p:cNvSpPr/>
          <p:nvPr/>
        </p:nvSpPr>
        <p:spPr>
          <a:xfrm>
            <a:off x="698500" y="4127500"/>
            <a:ext cx="457200" cy="457200"/>
          </a:xfrm>
          <a:prstGeom prst="ellipse">
            <a:avLst/>
          </a:prstGeom>
          <a:solidFill>
            <a:srgbClr val="F2890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6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CE99AE5-F681-4AEC-B9D2-0718643AF2D2}"/>
              </a:ext>
            </a:extLst>
          </p:cNvPr>
          <p:cNvSpPr txBox="1"/>
          <p:nvPr/>
        </p:nvSpPr>
        <p:spPr>
          <a:xfrm>
            <a:off x="1270000" y="41275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b="1">
                <a:solidFill>
                  <a:srgbClr val="FFFFFF"/>
                </a:solidFill>
                <a:latin typeface="Montserrat"/>
              </a:rPr>
              <a:t>Conforme alle normative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68A2792-5C4E-4E63-9DC5-1E9F65D13014}"/>
              </a:ext>
            </a:extLst>
          </p:cNvPr>
          <p:cNvSpPr txBox="1"/>
          <p:nvPr/>
        </p:nvSpPr>
        <p:spPr>
          <a:xfrm>
            <a:off x="1270000" y="4774521"/>
            <a:ext cx="2476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500" dirty="0">
                <a:solidFill>
                  <a:srgbClr val="C0C0C0"/>
                </a:solidFill>
                <a:latin typeface="Open Sans"/>
                <a:ea typeface="Open Sans"/>
                <a:cs typeface="Open Sans"/>
              </a:rPr>
              <a:t>Badge elettronico, tracciabilità completa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155941A4-E633-4909-A0B6-59D0EB2D40AF}"/>
              </a:ext>
            </a:extLst>
          </p:cNvPr>
          <p:cNvSpPr/>
          <p:nvPr/>
        </p:nvSpPr>
        <p:spPr>
          <a:xfrm>
            <a:off x="4191000" y="3937000"/>
            <a:ext cx="3429000" cy="1524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BDCC5AFF-7DD4-48E6-971A-5DB7D4250F57}"/>
              </a:ext>
            </a:extLst>
          </p:cNvPr>
          <p:cNvSpPr/>
          <p:nvPr/>
        </p:nvSpPr>
        <p:spPr>
          <a:xfrm>
            <a:off x="4381500" y="4127500"/>
            <a:ext cx="457200" cy="457200"/>
          </a:xfrm>
          <a:prstGeom prst="ellipse">
            <a:avLst/>
          </a:prstGeom>
          <a:solidFill>
            <a:srgbClr val="F2890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6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7B99EC11-7609-4192-98D2-42EEC911B89A}"/>
              </a:ext>
            </a:extLst>
          </p:cNvPr>
          <p:cNvSpPr txBox="1"/>
          <p:nvPr/>
        </p:nvSpPr>
        <p:spPr>
          <a:xfrm>
            <a:off x="4953000" y="41275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b="1">
                <a:solidFill>
                  <a:srgbClr val="FFFFFF"/>
                </a:solidFill>
                <a:latin typeface="Montserrat"/>
              </a:rPr>
              <a:t>AI che semplifica il lavoro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61324A2E-46D5-440F-BC6B-DEF37DA30EBE}"/>
              </a:ext>
            </a:extLst>
          </p:cNvPr>
          <p:cNvSpPr txBox="1"/>
          <p:nvPr/>
        </p:nvSpPr>
        <p:spPr>
          <a:xfrm>
            <a:off x="4953000" y="4762247"/>
            <a:ext cx="2476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500">
                <a:solidFill>
                  <a:srgbClr val="C0C0C0"/>
                </a:solidFill>
                <a:latin typeface="Open Sans"/>
                <a:ea typeface="Open Sans"/>
                <a:cs typeface="Open Sans"/>
              </a:rPr>
              <a:t>Report, previsioni e assistenza automatica</a:t>
            </a: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2FB6704B-6D5A-4B72-A35B-536CD219EECC}"/>
              </a:ext>
            </a:extLst>
          </p:cNvPr>
          <p:cNvSpPr/>
          <p:nvPr/>
        </p:nvSpPr>
        <p:spPr>
          <a:xfrm>
            <a:off x="7874000" y="3937000"/>
            <a:ext cx="3429000" cy="1524000"/>
          </a:xfrm>
          <a:prstGeom prst="roundRect">
            <a:avLst/>
          </a:prstGeom>
          <a:solidFill>
            <a:srgbClr val="3D3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53D30ADC-F57B-45ED-B6A3-01942B89E699}"/>
              </a:ext>
            </a:extLst>
          </p:cNvPr>
          <p:cNvSpPr/>
          <p:nvPr/>
        </p:nvSpPr>
        <p:spPr>
          <a:xfrm>
            <a:off x="8064500" y="4127500"/>
            <a:ext cx="457200" cy="457200"/>
          </a:xfrm>
          <a:prstGeom prst="ellipse">
            <a:avLst/>
          </a:prstGeom>
          <a:solidFill>
            <a:srgbClr val="F2890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6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4D8B83A-8CD9-431A-A355-D6212DD88954}"/>
              </a:ext>
            </a:extLst>
          </p:cNvPr>
          <p:cNvSpPr txBox="1"/>
          <p:nvPr/>
        </p:nvSpPr>
        <p:spPr>
          <a:xfrm>
            <a:off x="8636000" y="41275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b="1">
                <a:solidFill>
                  <a:srgbClr val="FFFFFF"/>
                </a:solidFill>
                <a:latin typeface="Montserrat"/>
              </a:rPr>
              <a:t>Zero carta, zero sprechi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EAB33A0E-BAF5-4B3C-A900-1FF924483A0B}"/>
              </a:ext>
            </a:extLst>
          </p:cNvPr>
          <p:cNvSpPr txBox="1"/>
          <p:nvPr/>
        </p:nvSpPr>
        <p:spPr>
          <a:xfrm>
            <a:off x="8636000" y="4756110"/>
            <a:ext cx="2476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500" dirty="0">
                <a:solidFill>
                  <a:srgbClr val="C0C0C0"/>
                </a:solidFill>
                <a:latin typeface="Open Sans"/>
                <a:ea typeface="Open Sans"/>
                <a:cs typeface="Open Sans"/>
              </a:rPr>
              <a:t>Digitale, sostenibile, efficiente</a:t>
            </a:r>
          </a:p>
        </p:txBody>
      </p:sp>
      <p:pic>
        <p:nvPicPr>
          <p:cNvPr id="27" name="Immagine 26" descr="Immagine che contiene schermata, arancione, Policromia, Rettangolo&#10;&#10;Il contenuto generato dall'IA potrebbe non essere corretto.">
            <a:extLst>
              <a:ext uri="{FF2B5EF4-FFF2-40B4-BE49-F238E27FC236}">
                <a16:creationId xmlns:a16="http://schemas.microsoft.com/office/drawing/2014/main" id="{9BD59515-950F-0688-C84C-BEB9C7571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0146" y="5695975"/>
            <a:ext cx="952707" cy="103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8904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CantieriAI">
      <a:dk1>
        <a:srgbClr val="FFFFFF"/>
      </a:dk1>
      <a:lt1>
        <a:srgbClr val="2B2B2B"/>
      </a:lt1>
      <a:dk2>
        <a:srgbClr val="E8E8E8"/>
      </a:dk2>
      <a:lt2>
        <a:srgbClr val="3D3D3D"/>
      </a:lt2>
      <a:accent1>
        <a:srgbClr val="F2890A"/>
      </a:accent1>
      <a:accent2>
        <a:srgbClr val="E05E00"/>
      </a:accent2>
      <a:accent3>
        <a:srgbClr val="FFB347"/>
      </a:accent3>
      <a:accent4>
        <a:srgbClr val="6B6B6B"/>
      </a:accent4>
      <a:accent5>
        <a:srgbClr val="4A9B5F"/>
      </a:accent5>
      <a:accent6>
        <a:srgbClr val="D94F4F"/>
      </a:accent6>
      <a:hlink>
        <a:srgbClr val="FFB347"/>
      </a:hlink>
      <a:folHlink>
        <a:srgbClr val="E05E00"/>
      </a:folHlink>
    </a:clrScheme>
    <a:fontScheme name="CantieriAI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C07B15D-461B-4AD7-8D1E-369AE657EE5D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  <we:property name="claude.fileId" value="&quot;84a12805-8db8-41ba-a61b-057de211c5f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</Words>
  <Application>Microsoft Office PowerPoint</Application>
  <PresentationFormat>Widescreen</PresentationFormat>
  <Paragraphs>144</Paragraphs>
  <Slides>16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Montserrat</vt:lpstr>
      <vt:lpstr>Open Sans</vt:lpstr>
      <vt:lpstr>Tema di Office</vt:lpstr>
      <vt:lpstr>Tema di Office</vt:lpstr>
      <vt:lpstr>Presentazione standard di PowerPoint</vt:lpstr>
      <vt:lpstr>Come si lavora oggi?</vt:lpstr>
      <vt:lpstr>Tutto in un’unica Dashboard riepilogativa</vt:lpstr>
      <vt:lpstr>Comunicazione e documenti</vt:lpstr>
      <vt:lpstr>Pianificazione e monitoraggio attività</vt:lpstr>
      <vt:lpstr>Pianificazione e monitoraggio attività</vt:lpstr>
      <vt:lpstr>Verbali di cantiere</vt:lpstr>
      <vt:lpstr>Rapportini via WhatsApp</vt:lpstr>
      <vt:lpstr>Presentazione standard di PowerPoint</vt:lpstr>
      <vt:lpstr>Sicurezza in cantiere</vt:lpstr>
      <vt:lpstr>Gestione immobili: documenti e scadenze</vt:lpstr>
      <vt:lpstr>Helpdesk immobili</vt:lpstr>
      <vt:lpstr>Analisi dei consumi</vt:lpstr>
      <vt:lpstr>L'Intelligenza Artificiale al tuo fianco</vt:lpstr>
      <vt:lpstr>Cos'altro può fare l'AI per voi</vt:lpstr>
      <vt:lpstr>Perché scegliere cantieri.ai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Malaguti</dc:creator>
  <cp:lastModifiedBy>Marco Malaguti</cp:lastModifiedBy>
  <cp:revision>12</cp:revision>
  <dcterms:created xsi:type="dcterms:W3CDTF">2026-03-09T11:03:00Z</dcterms:created>
  <dcterms:modified xsi:type="dcterms:W3CDTF">2026-06-29T07:02:22Z</dcterms:modified>
</cp:coreProperties>
</file>